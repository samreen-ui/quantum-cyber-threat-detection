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7" r:id="rId2"/>
    <p:sldId id="258" r:id="rId3"/>
    <p:sldId id="323" r:id="rId4"/>
    <p:sldId id="322" r:id="rId5"/>
    <p:sldId id="321" r:id="rId6"/>
    <p:sldId id="326" r:id="rId7"/>
    <p:sldId id="325" r:id="rId8"/>
    <p:sldId id="28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37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60D75F-73F6-467C-8B5A-E96364E1170A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3F4ECA-A2DA-4C65-B4BB-80B02CF08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3199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799" y="4343379"/>
            <a:ext cx="5486389" cy="41147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lvl="0" algn="ctr">
              <a:spcBef>
                <a:spcPts val="672"/>
              </a:spcBef>
              <a:spcAft>
                <a:spcPts val="0"/>
              </a:spcAft>
              <a:buClr>
                <a:srgbClr val="888888"/>
              </a:buClr>
              <a:buSzPts val="336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504"/>
              </a:spcBef>
              <a:spcAft>
                <a:spcPts val="0"/>
              </a:spcAft>
              <a:buClr>
                <a:srgbClr val="888888"/>
              </a:buClr>
              <a:buSzPts val="252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91543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>
            <a:spLocks noGrp="1"/>
          </p:cNvSpPr>
          <p:nvPr>
            <p:ph type="title"/>
          </p:nvPr>
        </p:nvSpPr>
        <p:spPr>
          <a:xfrm>
            <a:off x="963084" y="4406902"/>
            <a:ext cx="10363200" cy="1362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  <a:defRPr sz="42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marL="457200" lvl="0" indent="-228600" algn="l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 sz="216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84"/>
              </a:spcBef>
              <a:spcAft>
                <a:spcPts val="0"/>
              </a:spcAft>
              <a:buClr>
                <a:srgbClr val="888888"/>
              </a:buClr>
              <a:buSzPts val="1920"/>
              <a:buNone/>
              <a:defRPr sz="192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36"/>
              </a:spcBef>
              <a:spcAft>
                <a:spcPts val="0"/>
              </a:spcAft>
              <a:buClr>
                <a:srgbClr val="888888"/>
              </a:buClr>
              <a:buSzPts val="1680"/>
              <a:buNone/>
              <a:defRPr sz="1679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8080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4191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1pPr>
            <a:lvl2pPr marL="914400" lvl="1" indent="-388619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–"/>
              <a:defRPr sz="2520"/>
            </a:lvl2pPr>
            <a:lvl3pPr marL="1371600" lvl="2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3pPr>
            <a:lvl4pPr marL="1828800" lvl="3" indent="-350519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–"/>
              <a:defRPr sz="1920"/>
            </a:lvl4pPr>
            <a:lvl5pPr marL="2286000" lvl="4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»"/>
              <a:defRPr sz="1920"/>
            </a:lvl5pPr>
            <a:lvl6pPr marL="2743200" lvl="5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6pPr>
            <a:lvl7pPr marL="3200400" lvl="6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7pPr>
            <a:lvl8pPr marL="3657600" lvl="7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8pPr>
            <a:lvl9pPr marL="4114800" lvl="8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4191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1pPr>
            <a:lvl2pPr marL="914400" lvl="1" indent="-388619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–"/>
              <a:defRPr sz="2520"/>
            </a:lvl2pPr>
            <a:lvl3pPr marL="1371600" lvl="2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3pPr>
            <a:lvl4pPr marL="1828800" lvl="3" indent="-350519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–"/>
              <a:defRPr sz="1920"/>
            </a:lvl4pPr>
            <a:lvl5pPr marL="2286000" lvl="4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»"/>
              <a:defRPr sz="1920"/>
            </a:lvl5pPr>
            <a:lvl6pPr marL="2743200" lvl="5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6pPr>
            <a:lvl7pPr marL="3200400" lvl="6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7pPr>
            <a:lvl8pPr marL="3657600" lvl="7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8pPr>
            <a:lvl9pPr marL="4114800" lvl="8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57509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8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marL="457200" lvl="0" indent="-228600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None/>
              <a:defRPr sz="2520" b="1"/>
            </a:lvl1pPr>
            <a:lvl2pPr marL="914400" lvl="1" indent="-22860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sz="2160" b="1"/>
            </a:lvl2pPr>
            <a:lvl3pPr marL="1371600" lvl="2" indent="-22860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sz="1920" b="1"/>
            </a:lvl3pPr>
            <a:lvl4pPr marL="1828800" lvl="3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4pPr>
            <a:lvl5pPr marL="2286000" lvl="4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5pPr>
            <a:lvl6pPr marL="2743200" lvl="5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6pPr>
            <a:lvl7pPr marL="3200400" lvl="6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7pPr>
            <a:lvl8pPr marL="3657600" lvl="7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8pPr>
            <a:lvl9pPr marL="4114800" lvl="8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388620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 sz="2520"/>
            </a:lvl1pPr>
            <a:lvl2pPr marL="914400" lvl="1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–"/>
              <a:defRPr sz="2160"/>
            </a:lvl2pPr>
            <a:lvl3pPr marL="1371600" lvl="2" indent="-350519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3pPr>
            <a:lvl4pPr marL="1828800" lvl="3" indent="-33528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–"/>
              <a:defRPr sz="1679"/>
            </a:lvl4pPr>
            <a:lvl5pPr marL="2286000" lvl="4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»"/>
              <a:defRPr sz="1679"/>
            </a:lvl5pPr>
            <a:lvl6pPr marL="2743200" lvl="5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6pPr>
            <a:lvl7pPr marL="3200400" lvl="6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7pPr>
            <a:lvl8pPr marL="3657600" lvl="7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8pPr>
            <a:lvl9pPr marL="4114800" lvl="8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3"/>
          </p:nvPr>
        </p:nvSpPr>
        <p:spPr>
          <a:xfrm>
            <a:off x="6193370" y="1535114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marL="457200" lvl="0" indent="-228600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None/>
              <a:defRPr sz="2520" b="1"/>
            </a:lvl1pPr>
            <a:lvl2pPr marL="914400" lvl="1" indent="-22860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sz="2160" b="1"/>
            </a:lvl2pPr>
            <a:lvl3pPr marL="1371600" lvl="2" indent="-22860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sz="1920" b="1"/>
            </a:lvl3pPr>
            <a:lvl4pPr marL="1828800" lvl="3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4pPr>
            <a:lvl5pPr marL="2286000" lvl="4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5pPr>
            <a:lvl6pPr marL="2743200" lvl="5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6pPr>
            <a:lvl7pPr marL="3200400" lvl="6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7pPr>
            <a:lvl8pPr marL="3657600" lvl="7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8pPr>
            <a:lvl9pPr marL="4114800" lvl="8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4"/>
          </p:nvPr>
        </p:nvSpPr>
        <p:spPr>
          <a:xfrm>
            <a:off x="6193370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388620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 sz="2520"/>
            </a:lvl1pPr>
            <a:lvl2pPr marL="914400" lvl="1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–"/>
              <a:defRPr sz="2160"/>
            </a:lvl2pPr>
            <a:lvl3pPr marL="1371600" lvl="2" indent="-350519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3pPr>
            <a:lvl4pPr marL="1828800" lvl="3" indent="-33528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–"/>
              <a:defRPr sz="1679"/>
            </a:lvl4pPr>
            <a:lvl5pPr marL="2286000" lvl="4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»"/>
              <a:defRPr sz="1679"/>
            </a:lvl5pPr>
            <a:lvl6pPr marL="2743200" lvl="5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6pPr>
            <a:lvl7pPr marL="3200400" lvl="6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7pPr>
            <a:lvl8pPr marL="3657600" lvl="7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8pPr>
            <a:lvl9pPr marL="4114800" lvl="8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66317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4515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609602" y="273051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alibri"/>
              <a:buNone/>
              <a:defRPr sz="216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4766736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441960" algn="l"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3360"/>
              <a:buChar char="•"/>
              <a:defRPr sz="3359"/>
            </a:lvl1pPr>
            <a:lvl2pPr marL="914400" lvl="1" indent="-4191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–"/>
              <a:defRPr sz="3000"/>
            </a:lvl2pPr>
            <a:lvl3pPr marL="1371600" lvl="2" indent="-388619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 sz="2520"/>
            </a:lvl3pPr>
            <a:lvl4pPr marL="1828800" lvl="3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–"/>
              <a:defRPr sz="2160"/>
            </a:lvl4pPr>
            <a:lvl5pPr marL="2286000" lvl="4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»"/>
              <a:defRPr sz="2160"/>
            </a:lvl5pPr>
            <a:lvl6pPr marL="2743200" lvl="5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6pPr>
            <a:lvl7pPr marL="3200400" lvl="6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7pPr>
            <a:lvl8pPr marL="3657600" lvl="7" indent="-365759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8pPr>
            <a:lvl9pPr marL="4114800" lvl="8" indent="-365759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22860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/>
            </a:lvl1pPr>
            <a:lvl2pPr marL="914400" lvl="1" indent="-228600" algn="l"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320"/>
              <a:buNone/>
              <a:defRPr sz="1320"/>
            </a:lvl2pPr>
            <a:lvl3pPr marL="1371600" lvl="2" indent="-228600" algn="l">
              <a:spcBef>
                <a:spcPts val="216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 sz="1080"/>
            </a:lvl3pPr>
            <a:lvl4pPr marL="1828800" lvl="3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4pPr>
            <a:lvl5pPr marL="2286000" lvl="4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5pPr>
            <a:lvl6pPr marL="2743200" lvl="5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6pPr>
            <a:lvl7pPr marL="3200400" lvl="6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7pPr>
            <a:lvl8pPr marL="3657600" lvl="7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8pPr>
            <a:lvl9pPr marL="4114800" lvl="8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3333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alibri"/>
              <a:buNone/>
              <a:defRPr sz="216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22860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/>
            </a:lvl1pPr>
            <a:lvl2pPr marL="914400" lvl="1" indent="-228600" algn="l"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320"/>
              <a:buNone/>
              <a:defRPr sz="1320"/>
            </a:lvl2pPr>
            <a:lvl3pPr marL="1371600" lvl="2" indent="-228600" algn="l">
              <a:spcBef>
                <a:spcPts val="216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 sz="1080"/>
            </a:lvl3pPr>
            <a:lvl4pPr marL="1828800" lvl="3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4pPr>
            <a:lvl5pPr marL="2286000" lvl="4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5pPr>
            <a:lvl6pPr marL="2743200" lvl="5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6pPr>
            <a:lvl7pPr marL="3200400" lvl="6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7pPr>
            <a:lvl8pPr marL="3657600" lvl="7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8pPr>
            <a:lvl9pPr marL="4114800" lvl="8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69958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 rot="5400000">
            <a:off x="3833020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28224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 rot="5400000">
            <a:off x="7285039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 rot="5400000">
            <a:off x="1697039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50213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80"/>
              <a:buFont typeface="Calibri"/>
              <a:buNone/>
              <a:defRPr sz="468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marR="0" lvl="0" indent="-441960" algn="l" rtl="0"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3360"/>
              <a:buFont typeface="Arial"/>
              <a:buChar char="•"/>
              <a:defRPr sz="335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191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–"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8619" algn="l" rtl="0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Font typeface="Arial"/>
              <a:buChar char="•"/>
              <a:defRPr sz="25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65760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–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65760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»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65760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65760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65759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65759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endParaRPr kern="0"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endParaRPr kern="0"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kern="0"/>
              <a:pPr>
                <a:buClr>
                  <a:srgbClr val="000000"/>
                </a:buClr>
                <a:buFont typeface="Arial"/>
                <a:buNone/>
              </a:pPr>
              <a:t>‹#›</a:t>
            </a:fld>
            <a:endParaRPr kern="0"/>
          </a:p>
        </p:txBody>
      </p:sp>
    </p:spTree>
    <p:extLst>
      <p:ext uri="{BB962C8B-B14F-4D97-AF65-F5344CB8AC3E}">
        <p14:creationId xmlns:p14="http://schemas.microsoft.com/office/powerpoint/2010/main" val="11892019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1718187" y="2814991"/>
            <a:ext cx="8755626" cy="14700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2400" b="1" kern="0" dirty="0">
                <a:solidFill>
                  <a:srgbClr val="4BACC6">
                    <a:lumMod val="7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G516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| Project ID |Quantum Machine Learning for Threat Detection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en-US" sz="2800" b="1" kern="0" dirty="0">
              <a:solidFill>
                <a:srgbClr val="4BACC6">
                  <a:lumMod val="75000"/>
                </a:srgbClr>
              </a:solidFill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Date: dd-Mon-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4BACC6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yyyy</a:t>
            </a:r>
            <a:endParaRPr kumimoji="0" lang="en-IN" sz="1800" b="0" i="0" u="none" strike="noStrike" kern="0" cap="none" spc="0" normalizeH="0" baseline="0" noProof="0" dirty="0">
              <a:ln>
                <a:noFill/>
              </a:ln>
              <a:solidFill>
                <a:srgbClr val="4BACC6">
                  <a:lumMod val="75000"/>
                </a:srgbClr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6811" y="4456329"/>
            <a:ext cx="4839764" cy="227308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2000" b="1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Team Members</a:t>
            </a:r>
          </a:p>
          <a:p>
            <a:pPr marL="914400" lvl="1" indent="-457200">
              <a:buFont typeface="+mj-lt"/>
              <a:buAutoNum type="arabicPeriod"/>
              <a:defRPr/>
            </a:pPr>
            <a:r>
              <a:rPr lang="en-I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Samreen Fatima – 23bd1a1256</a:t>
            </a:r>
            <a:endParaRPr kumimoji="0" lang="en-IN" sz="20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914400" lvl="1" indent="-457200">
              <a:buFont typeface="+mj-lt"/>
              <a:buAutoNum type="arabicPeriod"/>
              <a:defRPr/>
            </a:pPr>
            <a:r>
              <a:rPr lang="en-I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Hiral Jain – 23bd1a1222</a:t>
            </a:r>
          </a:p>
          <a:p>
            <a:pPr marL="914400" lvl="1" indent="-457200">
              <a:buFont typeface="+mj-lt"/>
              <a:buAutoNum type="arabicPeriod"/>
              <a:defRPr/>
            </a:pPr>
            <a:r>
              <a:rPr lang="en-I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Vedasree </a:t>
            </a:r>
            <a:r>
              <a:rPr lang="en-IN" sz="20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Ramaram</a:t>
            </a:r>
            <a:r>
              <a:rPr lang="en-I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23bd1a1265</a:t>
            </a:r>
          </a:p>
          <a:p>
            <a:pPr marL="914400" lvl="1" indent="-457200">
              <a:buFont typeface="+mj-lt"/>
              <a:buAutoNum type="arabicPeriod"/>
              <a:defRPr/>
            </a:pPr>
            <a:r>
              <a:rPr lang="en-IN" sz="20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Jalluri</a:t>
            </a:r>
            <a:r>
              <a:rPr lang="en-I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Manasa – 23bd1a1223</a:t>
            </a:r>
          </a:p>
          <a:p>
            <a:pPr marL="914400" lvl="1" indent="-457200">
              <a:buFont typeface="+mj-lt"/>
              <a:buAutoNum type="arabicPeriod"/>
              <a:defRPr/>
            </a:pPr>
            <a:r>
              <a:rPr lang="en-IN" sz="20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Pavushetty</a:t>
            </a:r>
            <a:r>
              <a:rPr lang="en-I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Parnika – 23bd1a1251</a:t>
            </a:r>
          </a:p>
          <a:p>
            <a:pPr lvl="1">
              <a:defRPr/>
            </a:pPr>
            <a:endParaRPr lang="en-I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+mj-lt"/>
              <a:buAutoNum type="arabicPeriod"/>
              <a:defRPr/>
            </a:pPr>
            <a:r>
              <a:rPr kumimoji="0" lang="en-IN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…	</a:t>
            </a:r>
          </a:p>
          <a:p>
            <a:pPr marL="914400" lvl="1" indent="-457200">
              <a:buFont typeface="+mj-lt"/>
              <a:buAutoNum type="arabicPeriod"/>
              <a:defRPr/>
            </a:pPr>
            <a:r>
              <a:rPr lang="en-I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pPr marL="914400" lvl="1" indent="-457200">
              <a:buFont typeface="+mj-lt"/>
              <a:buAutoNum type="arabicPeriod"/>
              <a:defRPr/>
            </a:pPr>
            <a:r>
              <a:rPr kumimoji="0" lang="en-IN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…</a:t>
            </a:r>
          </a:p>
          <a:p>
            <a:pPr marL="914400" lvl="1" indent="-457200">
              <a:buFont typeface="+mj-lt"/>
              <a:buAutoNum type="arabicPeriod"/>
              <a:defRPr/>
            </a:pPr>
            <a:r>
              <a:rPr lang="en-I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kumimoji="0" lang="en-IN" sz="20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B51CFB20-BF85-80BD-477B-14C7A76949D5}"/>
              </a:ext>
            </a:extLst>
          </p:cNvPr>
          <p:cNvSpPr txBox="1">
            <a:spLocks/>
          </p:cNvSpPr>
          <p:nvPr/>
        </p:nvSpPr>
        <p:spPr>
          <a:xfrm>
            <a:off x="7028383" y="4456330"/>
            <a:ext cx="4610100" cy="227308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2000" b="1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Mentors</a:t>
            </a:r>
          </a:p>
          <a:p>
            <a:pPr marL="457200" lvl="0" indent="-457200">
              <a:buFont typeface="+mj-lt"/>
              <a:buAutoNum type="arabicPeriod"/>
              <a:defRPr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Kishore Babu D</a:t>
            </a:r>
            <a:endParaRPr kumimoji="0" lang="en-IN" sz="20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endParaRPr lang="en-I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2055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C3F8B0-6282-99B1-93A0-C4F705D327DE}"/>
              </a:ext>
            </a:extLst>
          </p:cNvPr>
          <p:cNvSpPr txBox="1"/>
          <p:nvPr/>
        </p:nvSpPr>
        <p:spPr>
          <a:xfrm>
            <a:off x="882944" y="261176"/>
            <a:ext cx="104261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CONTENTS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65CB75-C0BF-49CC-2D4C-6D5FB9214585}"/>
              </a:ext>
            </a:extLst>
          </p:cNvPr>
          <p:cNvSpPr txBox="1"/>
          <p:nvPr/>
        </p:nvSpPr>
        <p:spPr>
          <a:xfrm>
            <a:off x="962965" y="845951"/>
            <a:ext cx="10266067" cy="3901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Title Slide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Requirement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Design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Development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Expected Outcome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223661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D12A0-BF48-2BD5-0527-690BC375E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B52095-1E06-92A6-8BED-8F94FD56D16C}"/>
              </a:ext>
            </a:extLst>
          </p:cNvPr>
          <p:cNvSpPr txBox="1"/>
          <p:nvPr/>
        </p:nvSpPr>
        <p:spPr>
          <a:xfrm>
            <a:off x="882944" y="83919"/>
            <a:ext cx="104261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FAFB47-235B-5172-F5FE-317016BE1FA5}"/>
              </a:ext>
            </a:extLst>
          </p:cNvPr>
          <p:cNvSpPr txBox="1"/>
          <p:nvPr/>
        </p:nvSpPr>
        <p:spPr>
          <a:xfrm>
            <a:off x="767922" y="551832"/>
            <a:ext cx="7476359" cy="508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Book Antiqua" panose="02040602050305030304" pitchFamily="18" charset="0"/>
                <a:cs typeface="Arial" panose="020B0604020202020204" pitchFamily="34" charset="0"/>
              </a:rPr>
              <a:t>Problem Statement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91588C-A27C-5457-F784-9EC34FB23379}"/>
              </a:ext>
            </a:extLst>
          </p:cNvPr>
          <p:cNvSpPr/>
          <p:nvPr/>
        </p:nvSpPr>
        <p:spPr>
          <a:xfrm>
            <a:off x="635794" y="1079380"/>
            <a:ext cx="5848896" cy="27083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b="1" dirty="0">
                <a:solidFill>
                  <a:schemeClr val="tx1"/>
                </a:solidFill>
                <a:latin typeface="Book Antiqua" panose="02040602050305030304" pitchFamily="18" charset="0"/>
              </a:rPr>
              <a:t>Escalating Threats: </a:t>
            </a:r>
            <a:r>
              <a:rPr lang="en-US" sz="1400" dirty="0">
                <a:solidFill>
                  <a:schemeClr val="tx1"/>
                </a:solidFill>
                <a:latin typeface="Book Antiqua" panose="02040602050305030304" pitchFamily="18" charset="0"/>
              </a:rPr>
              <a:t>Modern cyber threats (DDoS, sophisticated malware) are overwhelming conventional security defenses.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b="1" dirty="0">
                <a:solidFill>
                  <a:schemeClr val="tx1"/>
                </a:solidFill>
                <a:latin typeface="Book Antiqua" panose="02040602050305030304" pitchFamily="18" charset="0"/>
              </a:rPr>
              <a:t>CML Limitations: </a:t>
            </a:r>
            <a:r>
              <a:rPr lang="en-US" sz="1400" dirty="0">
                <a:solidFill>
                  <a:schemeClr val="tx1"/>
                </a:solidFill>
                <a:latin typeface="Book Antiqua" panose="02040602050305030304" pitchFamily="18" charset="0"/>
              </a:rPr>
              <a:t>Traditional Classical ML suffers from: High </a:t>
            </a:r>
            <a:r>
              <a:rPr lang="en-US" sz="1400" b="1" dirty="0">
                <a:solidFill>
                  <a:schemeClr val="tx1"/>
                </a:solidFill>
                <a:latin typeface="Book Antiqua" panose="02040602050305030304" pitchFamily="18" charset="0"/>
              </a:rPr>
              <a:t>Computational Overhead: </a:t>
            </a:r>
            <a:r>
              <a:rPr lang="en-US" sz="1400" dirty="0">
                <a:solidFill>
                  <a:schemeClr val="tx1"/>
                </a:solidFill>
                <a:latin typeface="Book Antiqua" panose="02040602050305030304" pitchFamily="18" charset="0"/>
              </a:rPr>
              <a:t>Cannot handle the volume and high-dimensionality of network data in real-time.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b="1" dirty="0">
                <a:solidFill>
                  <a:schemeClr val="tx1"/>
                </a:solidFill>
                <a:latin typeface="Book Antiqua" panose="02040602050305030304" pitchFamily="18" charset="0"/>
              </a:rPr>
              <a:t>Limited Generalization: </a:t>
            </a:r>
            <a:r>
              <a:rPr lang="en-US" sz="1400" dirty="0">
                <a:solidFill>
                  <a:schemeClr val="tx1"/>
                </a:solidFill>
                <a:latin typeface="Book Antiqua" panose="02040602050305030304" pitchFamily="18" charset="0"/>
              </a:rPr>
              <a:t>Vulnerable to Adversarial Attacks and struggles to classify new, cross-domain threats.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b="1" dirty="0">
                <a:solidFill>
                  <a:schemeClr val="tx1"/>
                </a:solidFill>
                <a:latin typeface="Book Antiqua" panose="02040602050305030304" pitchFamily="18" charset="0"/>
              </a:rPr>
              <a:t>QML Constraint: </a:t>
            </a:r>
            <a:r>
              <a:rPr lang="en-US" sz="1400" dirty="0">
                <a:solidFill>
                  <a:schemeClr val="tx1"/>
                </a:solidFill>
                <a:latin typeface="Book Antiqua" panose="02040602050305030304" pitchFamily="18" charset="0"/>
              </a:rPr>
              <a:t>Current quantum hardware is limited by qubit count, constraining practical deployment.</a:t>
            </a:r>
            <a:endParaRPr lang="en-IN" sz="1400" dirty="0">
              <a:solidFill>
                <a:schemeClr val="tx1"/>
              </a:solidFill>
              <a:latin typeface="Book Antiqua" panose="0204060205030503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7221C4-C6B2-F1C0-D6BE-F74663EA45FA}"/>
              </a:ext>
            </a:extLst>
          </p:cNvPr>
          <p:cNvSpPr/>
          <p:nvPr/>
        </p:nvSpPr>
        <p:spPr>
          <a:xfrm>
            <a:off x="6660858" y="1619075"/>
            <a:ext cx="5360565" cy="347304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b="1" dirty="0">
                <a:solidFill>
                  <a:schemeClr val="tx1"/>
                </a:solidFill>
                <a:latin typeface="Book Antiqua" panose="02040602050305030304" pitchFamily="18" charset="0"/>
              </a:rPr>
              <a:t>Core Proposal: </a:t>
            </a:r>
            <a:r>
              <a:rPr lang="en-IN" sz="1400" dirty="0">
                <a:solidFill>
                  <a:schemeClr val="tx1"/>
                </a:solidFill>
                <a:latin typeface="Book Antiqua" panose="02040602050305030304" pitchFamily="18" charset="0"/>
              </a:rPr>
              <a:t>A Hybrid Quantum-Classical Architecture that integrates the QSVM (stability) and VQC/QNN (adaptability) via a classical Decision Fusion Layer.</a:t>
            </a:r>
          </a:p>
          <a:p>
            <a:endParaRPr lang="en-IN" sz="1400" dirty="0">
              <a:solidFill>
                <a:schemeClr val="tx1"/>
              </a:solidFill>
              <a:latin typeface="Book Antiqua" panose="02040602050305030304" pitchFamily="18" charset="0"/>
            </a:endParaRPr>
          </a:p>
          <a:p>
            <a:r>
              <a:rPr lang="en-IN" sz="1400" b="1" dirty="0">
                <a:solidFill>
                  <a:schemeClr val="tx1"/>
                </a:solidFill>
                <a:latin typeface="Book Antiqua" panose="02040602050305030304" pitchFamily="18" charset="0"/>
              </a:rPr>
              <a:t>Optimization: </a:t>
            </a:r>
            <a:r>
              <a:rPr lang="en-IN" sz="1400" dirty="0">
                <a:solidFill>
                  <a:schemeClr val="tx1"/>
                </a:solidFill>
                <a:latin typeface="Book Antiqua" panose="02040602050305030304" pitchFamily="18" charset="0"/>
              </a:rPr>
              <a:t>The model is highly efficient due to the Improved Grey Wolf Optimizer IGWO, which selects a minimal  8 feature subset.</a:t>
            </a:r>
          </a:p>
          <a:p>
            <a:endParaRPr lang="en-IN" sz="1400" dirty="0">
              <a:solidFill>
                <a:schemeClr val="tx1"/>
              </a:solidFill>
              <a:latin typeface="Book Antiqua" panose="02040602050305030304" pitchFamily="18" charset="0"/>
            </a:endParaRPr>
          </a:p>
          <a:p>
            <a:r>
              <a:rPr lang="en-IN" sz="1400" b="1" dirty="0">
                <a:solidFill>
                  <a:schemeClr val="tx1"/>
                </a:solidFill>
                <a:latin typeface="Book Antiqua" panose="02040602050305030304" pitchFamily="18" charset="0"/>
              </a:rPr>
              <a:t>Goal: </a:t>
            </a:r>
            <a:r>
              <a:rPr lang="en-IN" sz="1400" dirty="0">
                <a:solidFill>
                  <a:schemeClr val="tx1"/>
                </a:solidFill>
                <a:latin typeface="Book Antiqua" panose="02040602050305030304" pitchFamily="18" charset="0"/>
              </a:rPr>
              <a:t>To deliver a scalable, robust, and platform-independent solution, achieving superior detection rates across heterogeneous threat landscapes.</a:t>
            </a:r>
          </a:p>
          <a:p>
            <a:endParaRPr lang="en-IN" sz="1400" dirty="0">
              <a:solidFill>
                <a:schemeClr val="tx1"/>
              </a:solidFill>
              <a:latin typeface="Book Antiqua" panose="02040602050305030304" pitchFamily="18" charset="0"/>
            </a:endParaRPr>
          </a:p>
          <a:p>
            <a:r>
              <a:rPr lang="en-IN" sz="1400" b="1" dirty="0">
                <a:solidFill>
                  <a:schemeClr val="tx1"/>
                </a:solidFill>
                <a:latin typeface="Book Antiqua" panose="02040602050305030304" pitchFamily="18" charset="0"/>
              </a:rPr>
              <a:t>Validation: </a:t>
            </a:r>
            <a:r>
              <a:rPr lang="en-IN" sz="1400" dirty="0">
                <a:solidFill>
                  <a:schemeClr val="tx1"/>
                </a:solidFill>
                <a:latin typeface="Book Antiqua" panose="02040602050305030304" pitchFamily="18" charset="0"/>
              </a:rPr>
              <a:t>Demonstrated stable performance on CIC-DDoS2019, CICAndMal2017, and NSL-KDD.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4CCF0D-6918-DA5D-58FD-004E20F3D8E5}"/>
              </a:ext>
            </a:extLst>
          </p:cNvPr>
          <p:cNvSpPr txBox="1"/>
          <p:nvPr/>
        </p:nvSpPr>
        <p:spPr>
          <a:xfrm>
            <a:off x="8368943" y="1038898"/>
            <a:ext cx="6094602" cy="466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>
                <a:latin typeface="Book Antiqua" panose="02040602050305030304" pitchFamily="18" charset="0"/>
                <a:cs typeface="Arial" panose="020B0604020202020204" pitchFamily="34" charset="0"/>
              </a:rPr>
              <a:t>Solution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579790-8EBC-09FC-0F14-0E43BEB64496}"/>
              </a:ext>
            </a:extLst>
          </p:cNvPr>
          <p:cNvSpPr/>
          <p:nvPr/>
        </p:nvSpPr>
        <p:spPr>
          <a:xfrm>
            <a:off x="619016" y="4429387"/>
            <a:ext cx="5848896" cy="206369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1400" dirty="0">
              <a:solidFill>
                <a:schemeClr val="tx1"/>
              </a:solidFill>
              <a:latin typeface="Book Antiqua" panose="02040602050305030304" pitchFamily="18" charset="0"/>
            </a:endParaRPr>
          </a:p>
          <a:p>
            <a:r>
              <a:rPr lang="en-IN" sz="1400" b="1" dirty="0">
                <a:solidFill>
                  <a:schemeClr val="tx1"/>
                </a:solidFill>
                <a:latin typeface="Book Antiqua" panose="02040602050305030304" pitchFamily="18" charset="0"/>
              </a:rPr>
              <a:t>Domain: </a:t>
            </a:r>
            <a:r>
              <a:rPr lang="en-IN" sz="1400" dirty="0">
                <a:solidFill>
                  <a:schemeClr val="tx1"/>
                </a:solidFill>
                <a:latin typeface="Book Antiqua" panose="02040602050305030304" pitchFamily="18" charset="0"/>
              </a:rPr>
              <a:t>Hybrid Quantum Machine Learning (QML) for Intrusion Detection Systems (IDS)</a:t>
            </a:r>
          </a:p>
          <a:p>
            <a:endParaRPr lang="en-IN" sz="1400" dirty="0">
              <a:solidFill>
                <a:schemeClr val="tx1"/>
              </a:solidFill>
              <a:latin typeface="Book Antiqua" panose="02040602050305030304" pitchFamily="18" charset="0"/>
            </a:endParaRPr>
          </a:p>
          <a:p>
            <a:r>
              <a:rPr lang="en-IN" sz="1400" b="1" dirty="0">
                <a:solidFill>
                  <a:schemeClr val="tx1"/>
                </a:solidFill>
                <a:latin typeface="Book Antiqua" panose="02040602050305030304" pitchFamily="18" charset="0"/>
              </a:rPr>
              <a:t>Technologies:</a:t>
            </a:r>
          </a:p>
          <a:p>
            <a:r>
              <a:rPr lang="en-IN" sz="1400" b="1" dirty="0">
                <a:solidFill>
                  <a:schemeClr val="tx1"/>
                </a:solidFill>
                <a:latin typeface="Book Antiqua" panose="02040602050305030304" pitchFamily="18" charset="0"/>
              </a:rPr>
              <a:t>Languages</a:t>
            </a:r>
            <a:r>
              <a:rPr lang="en-IN" sz="1400" dirty="0">
                <a:solidFill>
                  <a:schemeClr val="tx1"/>
                </a:solidFill>
                <a:latin typeface="Book Antiqua" panose="02040602050305030304" pitchFamily="18" charset="0"/>
              </a:rPr>
              <a:t>: Python</a:t>
            </a:r>
          </a:p>
          <a:p>
            <a:r>
              <a:rPr lang="en-IN" sz="1400" b="1" dirty="0">
                <a:solidFill>
                  <a:schemeClr val="tx1"/>
                </a:solidFill>
                <a:latin typeface="Book Antiqua" panose="02040602050305030304" pitchFamily="18" charset="0"/>
              </a:rPr>
              <a:t>Quantum Libraries</a:t>
            </a:r>
            <a:r>
              <a:rPr lang="en-IN" sz="1400" dirty="0">
                <a:solidFill>
                  <a:schemeClr val="tx1"/>
                </a:solidFill>
                <a:latin typeface="Book Antiqua" panose="02040602050305030304" pitchFamily="18" charset="0"/>
              </a:rPr>
              <a:t>: IBM </a:t>
            </a:r>
            <a:r>
              <a:rPr lang="en-IN" sz="1400" dirty="0" err="1">
                <a:solidFill>
                  <a:schemeClr val="tx1"/>
                </a:solidFill>
                <a:latin typeface="Book Antiqua" panose="02040602050305030304" pitchFamily="18" charset="0"/>
              </a:rPr>
              <a:t>Qiskit</a:t>
            </a:r>
            <a:r>
              <a:rPr lang="en-IN" sz="1400" dirty="0">
                <a:solidFill>
                  <a:schemeClr val="tx1"/>
                </a:solidFill>
                <a:latin typeface="Book Antiqua" panose="02040602050305030304" pitchFamily="18" charset="0"/>
              </a:rPr>
              <a:t> (Primary), PennyLane</a:t>
            </a:r>
          </a:p>
          <a:p>
            <a:r>
              <a:rPr lang="en-IN" sz="1400" dirty="0">
                <a:solidFill>
                  <a:schemeClr val="tx1"/>
                </a:solidFill>
                <a:latin typeface="Book Antiqua" panose="02040602050305030304" pitchFamily="18" charset="0"/>
              </a:rPr>
              <a:t>Classical Tools: Scikit-learn, NumPy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IN" sz="1400" dirty="0">
              <a:solidFill>
                <a:schemeClr val="tx1"/>
              </a:solidFill>
              <a:latin typeface="Book Antiqua" panose="0204060205030503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AEA230-3EA7-15B8-6D01-7C3CF50A925F}"/>
              </a:ext>
            </a:extLst>
          </p:cNvPr>
          <p:cNvSpPr txBox="1"/>
          <p:nvPr/>
        </p:nvSpPr>
        <p:spPr>
          <a:xfrm>
            <a:off x="635794" y="4020341"/>
            <a:ext cx="63756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chemeClr val="tx1"/>
                </a:solidFill>
                <a:latin typeface="Book Antiqua" panose="02040602050305030304" pitchFamily="18" charset="0"/>
              </a:rPr>
              <a:t>Target Technology Domain </a:t>
            </a:r>
            <a:r>
              <a:rPr lang="en-IN" sz="1800" dirty="0">
                <a:solidFill>
                  <a:schemeClr val="tx1"/>
                </a:solidFill>
                <a:latin typeface="Book Antiqua" panose="02040602050305030304" pitchFamily="18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19972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01D33-2B83-9A0C-A740-5B3B2C407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2C1023-E687-BA37-AA43-E14E164EC872}"/>
              </a:ext>
            </a:extLst>
          </p:cNvPr>
          <p:cNvSpPr txBox="1"/>
          <p:nvPr/>
        </p:nvSpPr>
        <p:spPr>
          <a:xfrm>
            <a:off x="882944" y="261176"/>
            <a:ext cx="104261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REQUIREMENT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D830ED-44EF-C7F9-4825-04BEA9595FFE}"/>
              </a:ext>
            </a:extLst>
          </p:cNvPr>
          <p:cNvSpPr txBox="1"/>
          <p:nvPr/>
        </p:nvSpPr>
        <p:spPr>
          <a:xfrm>
            <a:off x="391485" y="845951"/>
            <a:ext cx="5404279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700" b="1" dirty="0">
                <a:latin typeface="Book Antiqua" panose="02040602050305030304" pitchFamily="18" charset="0"/>
              </a:rPr>
              <a:t>Key Stakeholders &amp; End Users</a:t>
            </a:r>
          </a:p>
          <a:p>
            <a:endParaRPr lang="en-IN" sz="1400" b="1" dirty="0">
              <a:latin typeface="Book Antiqua" panose="0204060205030503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>
                <a:latin typeface="Book Antiqua" panose="02040602050305030304" pitchFamily="18" charset="0"/>
                <a:cs typeface="Arial" panose="020B0604020202020204" pitchFamily="34" charset="0"/>
              </a:rPr>
              <a:t>Network Administrators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>
                <a:latin typeface="Book Antiqua" panose="02040602050305030304" pitchFamily="18" charset="0"/>
                <a:cs typeface="Arial" panose="020B0604020202020204" pitchFamily="34" charset="0"/>
              </a:rPr>
              <a:t>Data Scientists/Engineers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>
                <a:latin typeface="Book Antiqua" panose="02040602050305030304" pitchFamily="18" charset="0"/>
              </a:rPr>
              <a:t>Security Analysts (Tier 1/2 SOC)</a:t>
            </a:r>
            <a:endParaRPr lang="en-US" sz="1400" dirty="0">
              <a:latin typeface="Book Antiqua" panose="02040602050305030304" pitchFamily="18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B47E29-EB7A-F167-4983-CEF107D04D27}"/>
              </a:ext>
            </a:extLst>
          </p:cNvPr>
          <p:cNvSpPr txBox="1"/>
          <p:nvPr/>
        </p:nvSpPr>
        <p:spPr>
          <a:xfrm>
            <a:off x="5795764" y="608294"/>
            <a:ext cx="6094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Book Antiqua" panose="02040602050305030304" pitchFamily="18" charset="0"/>
              </a:rPr>
              <a:t>Core Stakeholder Needs (Use Cases)</a:t>
            </a:r>
            <a:endParaRPr lang="en-IN" b="1" dirty="0">
              <a:latin typeface="Book Antiqua" panose="02040602050305030304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A79054F-31B9-2CC4-9F7F-353BEC5D92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0199999"/>
              </p:ext>
            </p:extLst>
          </p:nvPr>
        </p:nvGraphicFramePr>
        <p:xfrm>
          <a:off x="5901325" y="1109301"/>
          <a:ext cx="5883480" cy="4969363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941740">
                  <a:extLst>
                    <a:ext uri="{9D8B030D-6E8A-4147-A177-3AD203B41FA5}">
                      <a16:colId xmlns:a16="http://schemas.microsoft.com/office/drawing/2014/main" val="212307614"/>
                    </a:ext>
                  </a:extLst>
                </a:gridCol>
                <a:gridCol w="2941740">
                  <a:extLst>
                    <a:ext uri="{9D8B030D-6E8A-4147-A177-3AD203B41FA5}">
                      <a16:colId xmlns:a16="http://schemas.microsoft.com/office/drawing/2014/main" val="2913458022"/>
                    </a:ext>
                  </a:extLst>
                </a:gridCol>
              </a:tblGrid>
              <a:tr h="64120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Book Antiqua" panose="02040602050305030304" pitchFamily="18" charset="0"/>
                        </a:rPr>
                        <a:t>Stakeholder Need / Use Case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T="60960" marB="6096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Book Antiqua" panose="02040602050305030304" pitchFamily="18" charset="0"/>
                        </a:rPr>
                        <a:t>Functional Requirement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T="60960" marB="6096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5538526"/>
                  </a:ext>
                </a:extLst>
              </a:tr>
              <a:tr h="92929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Book Antiqua" panose="02040602050305030304" pitchFamily="18" charset="0"/>
                        </a:rPr>
                        <a:t>Real-Time Threat Triage</a:t>
                      </a: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Book Antiqua" panose="02040602050305030304" pitchFamily="18" charset="0"/>
                        </a:rPr>
                        <a:t> (Analyst)</a:t>
                      </a:r>
                    </a:p>
                  </a:txBody>
                  <a:tcPr marT="60960" marB="6096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B1C1D"/>
                          </a:solidFill>
                          <a:effectLst/>
                          <a:latin typeface="Book Antiqua" panose="02040602050305030304" pitchFamily="18" charset="0"/>
                        </a:rPr>
                        <a:t>High Confidence &amp; Low False Alarms:</a:t>
                      </a:r>
                      <a:r>
                        <a:rPr lang="en-US" dirty="0">
                          <a:solidFill>
                            <a:srgbClr val="1B1C1D"/>
                          </a:solidFill>
                          <a:effectLst/>
                          <a:latin typeface="Book Antiqua" panose="02040602050305030304" pitchFamily="18" charset="0"/>
                        </a:rPr>
                        <a:t> </a:t>
                      </a:r>
                      <a:r>
                        <a:rPr lang="en-US" b="0" dirty="0">
                          <a:solidFill>
                            <a:srgbClr val="1B1C1D"/>
                          </a:solidFill>
                          <a:effectLst/>
                          <a:latin typeface="Book Antiqua" panose="02040602050305030304" pitchFamily="18" charset="0"/>
                        </a:rPr>
                        <a:t>Classify malicious traffic with high Precision and minimal FAR</a:t>
                      </a:r>
                    </a:p>
                  </a:txBody>
                  <a:tcPr marT="60960" marB="6096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3419102"/>
                  </a:ext>
                </a:extLst>
              </a:tr>
              <a:tr h="92929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B1C1D"/>
                          </a:solidFill>
                          <a:effectLst/>
                          <a:latin typeface="Book Antiqua" panose="02040602050305030304" pitchFamily="18" charset="0"/>
                        </a:rPr>
                        <a:t>Scalable Data Monitoring</a:t>
                      </a:r>
                      <a:r>
                        <a:rPr lang="en-IN" dirty="0">
                          <a:solidFill>
                            <a:srgbClr val="1B1C1D"/>
                          </a:solidFill>
                          <a:effectLst/>
                          <a:latin typeface="Book Antiqua" panose="02040602050305030304" pitchFamily="18" charset="0"/>
                        </a:rPr>
                        <a:t> (Admin)</a:t>
                      </a:r>
                    </a:p>
                  </a:txBody>
                  <a:tcPr marT="60960" marB="6096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B1C1D"/>
                          </a:solidFill>
                          <a:effectLst/>
                          <a:latin typeface="Book Antiqua" panose="02040602050305030304" pitchFamily="18" charset="0"/>
                        </a:rPr>
                        <a:t>Computational Efficiency:</a:t>
                      </a:r>
                      <a:r>
                        <a:rPr lang="en-US" dirty="0">
                          <a:solidFill>
                            <a:srgbClr val="1B1C1D"/>
                          </a:solidFill>
                          <a:effectLst/>
                          <a:latin typeface="Book Antiqua" panose="02040602050305030304" pitchFamily="18" charset="0"/>
                        </a:rPr>
                        <a:t> </a:t>
                      </a:r>
                      <a:r>
                        <a:rPr lang="en-US" b="0" dirty="0">
                          <a:solidFill>
                            <a:srgbClr val="1B1C1D"/>
                          </a:solidFill>
                          <a:effectLst/>
                          <a:latin typeface="Book Antiqua" panose="02040602050305030304" pitchFamily="18" charset="0"/>
                        </a:rPr>
                        <a:t>Process high-volume, high-dimensional data streams (e.g., DDoS) rapidly with minimal resource overhead.</a:t>
                      </a:r>
                    </a:p>
                  </a:txBody>
                  <a:tcPr marT="60960" marB="6096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041730"/>
                  </a:ext>
                </a:extLst>
              </a:tr>
              <a:tr h="75811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Book Antiqua" panose="02040602050305030304" pitchFamily="18" charset="0"/>
                        </a:rPr>
                        <a:t>New Threat Coverage</a:t>
                      </a: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Book Antiqua" panose="02040602050305030304" pitchFamily="18" charset="0"/>
                        </a:rPr>
                        <a:t> (Analyst)</a:t>
                      </a:r>
                    </a:p>
                  </a:txBody>
                  <a:tcPr marT="60960" marB="6096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B1C1D"/>
                          </a:solidFill>
                          <a:effectLst/>
                          <a:latin typeface="Book Antiqua" panose="02040602050305030304" pitchFamily="18" charset="0"/>
                        </a:rPr>
                        <a:t>Zero-Day/Polymorphic Robustness:</a:t>
                      </a:r>
                      <a:r>
                        <a:rPr lang="en-US" dirty="0">
                          <a:solidFill>
                            <a:srgbClr val="1B1C1D"/>
                          </a:solidFill>
                          <a:effectLst/>
                          <a:latin typeface="Book Antiqua" panose="02040602050305030304" pitchFamily="18" charset="0"/>
                        </a:rPr>
                        <a:t> </a:t>
                      </a:r>
                      <a:r>
                        <a:rPr lang="en-US" b="0" dirty="0">
                          <a:solidFill>
                            <a:srgbClr val="1B1C1D"/>
                          </a:solidFill>
                          <a:effectLst/>
                          <a:latin typeface="Book Antiqua" panose="02040602050305030304" pitchFamily="18" charset="0"/>
                        </a:rPr>
                        <a:t>Must detect and generalize to unseen or evolving attack patterns across multiple domains.</a:t>
                      </a:r>
                    </a:p>
                  </a:txBody>
                  <a:tcPr marT="60960" marB="6096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969247"/>
                  </a:ext>
                </a:extLst>
              </a:tr>
              <a:tr h="92929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Book Antiqua" panose="02040602050305030304" pitchFamily="18" charset="0"/>
                        </a:rPr>
                        <a:t>Feature Optimization</a:t>
                      </a: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Book Antiqua" panose="02040602050305030304" pitchFamily="18" charset="0"/>
                        </a:rPr>
                        <a:t> (Engineer)</a:t>
                      </a:r>
                    </a:p>
                  </a:txBody>
                  <a:tcPr marT="60960" marB="6096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B1C1D"/>
                          </a:solidFill>
                          <a:effectLst/>
                          <a:latin typeface="Book Antiqua" panose="02040602050305030304" pitchFamily="18" charset="0"/>
                        </a:rPr>
                        <a:t>Resource Efficiency</a:t>
                      </a:r>
                      <a:r>
                        <a:rPr lang="en-US" b="0" dirty="0">
                          <a:solidFill>
                            <a:srgbClr val="1B1C1D"/>
                          </a:solidFill>
                          <a:effectLst/>
                          <a:latin typeface="Book Antiqua" panose="02040602050305030304" pitchFamily="18" charset="0"/>
                        </a:rPr>
                        <a:t>: Select a minimal, optimal feature set 8 qubits to ensure practical quantum deployment.</a:t>
                      </a:r>
                    </a:p>
                  </a:txBody>
                  <a:tcPr marT="60960" marB="6096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2890666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6BB46AE0-BEC0-5211-962F-4085A0231B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091" y="3176773"/>
            <a:ext cx="5317922" cy="373382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BA163A0-B0ED-5F69-C026-1F1F4A2C9254}"/>
              </a:ext>
            </a:extLst>
          </p:cNvPr>
          <p:cNvSpPr txBox="1"/>
          <p:nvPr/>
        </p:nvSpPr>
        <p:spPr>
          <a:xfrm>
            <a:off x="407195" y="2253159"/>
            <a:ext cx="6094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Book Antiqua" panose="02040602050305030304" pitchFamily="18" charset="0"/>
              </a:rPr>
              <a:t>Process Flow</a:t>
            </a:r>
            <a:endParaRPr lang="en-IN" b="1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0637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B9F80-F453-A0C9-DB74-A74C76ED3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DF1F71-E7CA-1E78-DFFE-0CE48650C176}"/>
              </a:ext>
            </a:extLst>
          </p:cNvPr>
          <p:cNvSpPr txBox="1"/>
          <p:nvPr/>
        </p:nvSpPr>
        <p:spPr>
          <a:xfrm>
            <a:off x="882944" y="261176"/>
            <a:ext cx="104261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DESIGN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C8FA088-F882-F1B5-2B01-52DC7CDEE7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0723" y="630508"/>
            <a:ext cx="4819305" cy="5752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696DFDF-656B-3511-600A-3BBCD6BDFBD6}"/>
              </a:ext>
            </a:extLst>
          </p:cNvPr>
          <p:cNvSpPr txBox="1"/>
          <p:nvPr/>
        </p:nvSpPr>
        <p:spPr>
          <a:xfrm>
            <a:off x="8112155" y="134727"/>
            <a:ext cx="231536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Book Antiqua" panose="02040602050305030304" pitchFamily="18" charset="0"/>
              </a:rPr>
              <a:t>Architecture</a:t>
            </a:r>
            <a:r>
              <a:rPr lang="en-US" sz="2200" dirty="0"/>
              <a:t>:</a:t>
            </a:r>
            <a:endParaRPr lang="en-IN" sz="22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16D3602-4A4E-DB8E-04D6-7DDB6493BF72}"/>
              </a:ext>
            </a:extLst>
          </p:cNvPr>
          <p:cNvSpPr/>
          <p:nvPr/>
        </p:nvSpPr>
        <p:spPr>
          <a:xfrm>
            <a:off x="100668" y="1367407"/>
            <a:ext cx="6786693" cy="535217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B3A16ED0-D18B-CE84-9D44-5396BB9CC730}"/>
              </a:ext>
            </a:extLst>
          </p:cNvPr>
          <p:cNvSpPr/>
          <p:nvPr/>
        </p:nvSpPr>
        <p:spPr>
          <a:xfrm>
            <a:off x="240180" y="1824320"/>
            <a:ext cx="2466363" cy="111573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300" b="1" dirty="0">
                <a:solidFill>
                  <a:schemeClr val="tx1"/>
                </a:solidFill>
                <a:latin typeface="Book Antiqua" panose="02040602050305030304" pitchFamily="18" charset="0"/>
              </a:rPr>
              <a:t>Datasets Used</a:t>
            </a:r>
            <a:r>
              <a:rPr lang="en-US" altLang="en-US" sz="1300" dirty="0">
                <a:solidFill>
                  <a:schemeClr val="tx1"/>
                </a:solidFill>
                <a:latin typeface="Book Antiqua" panose="02040602050305030304" pitchFamily="18" charset="0"/>
              </a:rPr>
              <a:t>: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300" dirty="0">
                <a:solidFill>
                  <a:schemeClr val="tx1"/>
                </a:solidFill>
                <a:latin typeface="Book Antiqua" panose="02040602050305030304" pitchFamily="18" charset="0"/>
              </a:rPr>
              <a:t>NSL-KDD,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300" dirty="0">
                <a:solidFill>
                  <a:schemeClr val="tx1"/>
                </a:solidFill>
                <a:latin typeface="Book Antiqua" panose="02040602050305030304" pitchFamily="18" charset="0"/>
              </a:rPr>
              <a:t>CIC-DDoS2019(incl. Syn), CICAndMal2017. 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7DA37262-235B-A013-72F4-726D9F7B7136}"/>
              </a:ext>
            </a:extLst>
          </p:cNvPr>
          <p:cNvSpPr/>
          <p:nvPr/>
        </p:nvSpPr>
        <p:spPr>
          <a:xfrm>
            <a:off x="3700034" y="1571819"/>
            <a:ext cx="3046602" cy="159401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sz="1300" dirty="0">
              <a:latin typeface="Book Antiqua" panose="02040602050305030304" pitchFamily="18" charset="0"/>
            </a:endParaRPr>
          </a:p>
          <a:p>
            <a:r>
              <a:rPr lang="en-IN" sz="1300" dirty="0">
                <a:latin typeface="Book Antiqua" panose="02040602050305030304" pitchFamily="18" charset="0"/>
              </a:rPr>
              <a:t>Improved Grey Wolf Optimizer (IGWO)</a:t>
            </a:r>
            <a:br>
              <a:rPr lang="en-IN" sz="1300" dirty="0">
                <a:latin typeface="Book Antiqua" panose="02040602050305030304" pitchFamily="18" charset="0"/>
              </a:rPr>
            </a:br>
            <a:r>
              <a:rPr lang="en-IN" sz="1300" b="1" dirty="0">
                <a:latin typeface="Book Antiqua" panose="02040602050305030304" pitchFamily="18" charset="0"/>
              </a:rPr>
              <a:t>Result:</a:t>
            </a:r>
            <a:r>
              <a:rPr lang="en-IN" sz="1300" dirty="0">
                <a:latin typeface="Book Antiqua" panose="02040602050305030304" pitchFamily="18" charset="0"/>
              </a:rPr>
              <a:t> Feature set reduced to </a:t>
            </a:r>
            <a:r>
              <a:rPr lang="en-IN" sz="1300" b="1" dirty="0">
                <a:latin typeface="Book Antiqua" panose="02040602050305030304" pitchFamily="18" charset="0"/>
              </a:rPr>
              <a:t>8 features (8 qubits)</a:t>
            </a:r>
            <a:br>
              <a:rPr lang="en-IN" sz="1300" dirty="0">
                <a:latin typeface="Book Antiqua" panose="02040602050305030304" pitchFamily="18" charset="0"/>
              </a:rPr>
            </a:br>
            <a:r>
              <a:rPr lang="en-IN" sz="1300" b="1" dirty="0">
                <a:latin typeface="Book Antiqua" panose="02040602050305030304" pitchFamily="18" charset="0"/>
              </a:rPr>
              <a:t>Goal:</a:t>
            </a:r>
            <a:r>
              <a:rPr lang="en-IN" sz="1300" dirty="0">
                <a:latin typeface="Book Antiqua" panose="02040602050305030304" pitchFamily="18" charset="0"/>
              </a:rPr>
              <a:t> Successfully overcame the </a:t>
            </a:r>
            <a:r>
              <a:rPr lang="en-IN" sz="1300" b="1" dirty="0">
                <a:latin typeface="Book Antiqua" panose="02040602050305030304" pitchFamily="18" charset="0"/>
              </a:rPr>
              <a:t>quantum resource bottleneck</a:t>
            </a:r>
            <a:r>
              <a:rPr lang="en-IN" sz="1300" dirty="0">
                <a:latin typeface="Book Antiqua" panose="02040602050305030304" pitchFamily="18" charset="0"/>
              </a:rPr>
              <a:t>.</a:t>
            </a:r>
          </a:p>
          <a:p>
            <a:pPr algn="ctr"/>
            <a:endParaRPr lang="en-IN" sz="1300" dirty="0">
              <a:latin typeface="Book Antiqua" panose="02040602050305030304" pitchFamily="18" charset="0"/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98C1DD3D-9452-C3A1-4445-67714D8F1C2B}"/>
              </a:ext>
            </a:extLst>
          </p:cNvPr>
          <p:cNvSpPr/>
          <p:nvPr/>
        </p:nvSpPr>
        <p:spPr>
          <a:xfrm>
            <a:off x="3834236" y="3662235"/>
            <a:ext cx="2786565" cy="116187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300" b="1" dirty="0">
                <a:latin typeface="Book Antiqua" panose="02040602050305030304" pitchFamily="18" charset="0"/>
              </a:rPr>
              <a:t>Quantum Models:</a:t>
            </a:r>
            <a:endParaRPr lang="en-IN" sz="1300" dirty="0">
              <a:latin typeface="Book Antiqua" panose="02040602050305030304" pitchFamily="18" charset="0"/>
            </a:endParaRPr>
          </a:p>
          <a:p>
            <a:r>
              <a:rPr lang="en-IN" sz="1300" b="1" dirty="0">
                <a:latin typeface="Book Antiqua" panose="02040602050305030304" pitchFamily="18" charset="0"/>
              </a:rPr>
              <a:t>QSVC Kernel:</a:t>
            </a:r>
            <a:r>
              <a:rPr lang="en-IN" sz="1300" dirty="0">
                <a:latin typeface="Book Antiqua" panose="02040602050305030304" pitchFamily="18" charset="0"/>
              </a:rPr>
              <a:t> </a:t>
            </a:r>
            <a:r>
              <a:rPr lang="en-IN" sz="1300" i="1" dirty="0" err="1">
                <a:latin typeface="Book Antiqua" panose="02040602050305030304" pitchFamily="18" charset="0"/>
              </a:rPr>
              <a:t>ZZFeatureMap</a:t>
            </a:r>
            <a:endParaRPr lang="en-IN" sz="1300" dirty="0">
              <a:latin typeface="Book Antiqua" panose="02040602050305030304" pitchFamily="18" charset="0"/>
            </a:endParaRPr>
          </a:p>
          <a:p>
            <a:r>
              <a:rPr lang="en-IN" sz="1300" b="1" dirty="0">
                <a:latin typeface="Book Antiqua" panose="02040602050305030304" pitchFamily="18" charset="0"/>
              </a:rPr>
              <a:t>VQC Optimizer:</a:t>
            </a:r>
            <a:r>
              <a:rPr lang="en-IN" sz="1300" dirty="0">
                <a:latin typeface="Book Antiqua" panose="02040602050305030304" pitchFamily="18" charset="0"/>
              </a:rPr>
              <a:t> </a:t>
            </a:r>
            <a:r>
              <a:rPr lang="en-IN" sz="1300" i="1" dirty="0">
                <a:latin typeface="Book Antiqua" panose="02040602050305030304" pitchFamily="18" charset="0"/>
              </a:rPr>
              <a:t>SPSA</a:t>
            </a:r>
            <a:r>
              <a:rPr lang="en-IN" sz="1300" dirty="0">
                <a:latin typeface="Book Antiqua" panose="02040602050305030304" pitchFamily="18" charset="0"/>
              </a:rPr>
              <a:t> 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FEAAE132-BD05-C4F9-DBC6-11E16EC80A44}"/>
              </a:ext>
            </a:extLst>
          </p:cNvPr>
          <p:cNvSpPr/>
          <p:nvPr/>
        </p:nvSpPr>
        <p:spPr>
          <a:xfrm>
            <a:off x="3786004" y="5405774"/>
            <a:ext cx="2887233" cy="116187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300" b="1" dirty="0">
                <a:latin typeface="Book Antiqua" panose="02040602050305030304" pitchFamily="18" charset="0"/>
              </a:rPr>
              <a:t>Experiments Conducted:</a:t>
            </a:r>
            <a:r>
              <a:rPr lang="en-IN" sz="1300" dirty="0">
                <a:latin typeface="Book Antiqua" panose="02040602050305030304" pitchFamily="18" charset="0"/>
              </a:rPr>
              <a:t> </a:t>
            </a:r>
          </a:p>
          <a:p>
            <a:r>
              <a:rPr lang="en-IN" sz="1300" dirty="0">
                <a:latin typeface="Book Antiqua" panose="02040602050305030304" pitchFamily="18" charset="0"/>
              </a:rPr>
              <a:t>Hybrid Fusion,</a:t>
            </a:r>
          </a:p>
          <a:p>
            <a:r>
              <a:rPr lang="en-IN" sz="1300" dirty="0">
                <a:latin typeface="Book Antiqua" panose="02040602050305030304" pitchFamily="18" charset="0"/>
              </a:rPr>
              <a:t>Independent QSVC,</a:t>
            </a:r>
          </a:p>
          <a:p>
            <a:r>
              <a:rPr lang="en-IN" sz="1300" dirty="0">
                <a:latin typeface="Book Antiqua" panose="02040602050305030304" pitchFamily="18" charset="0"/>
              </a:rPr>
              <a:t>Independent VQC, and</a:t>
            </a:r>
          </a:p>
          <a:p>
            <a:r>
              <a:rPr lang="en-IN" sz="1300" b="1" i="1" dirty="0">
                <a:latin typeface="Book Antiqua" panose="02040602050305030304" pitchFamily="18" charset="0"/>
              </a:rPr>
              <a:t>Kernel Variation Tests</a:t>
            </a:r>
            <a:endParaRPr lang="en-IN" sz="1300" b="1" dirty="0">
              <a:latin typeface="Book Antiqua" panose="02040602050305030304" pitchFamily="18" charset="0"/>
            </a:endParaRP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84E6DD95-1CD8-F104-42BA-CF35495B0238}"/>
              </a:ext>
            </a:extLst>
          </p:cNvPr>
          <p:cNvSpPr/>
          <p:nvPr/>
        </p:nvSpPr>
        <p:spPr>
          <a:xfrm>
            <a:off x="227597" y="4565786"/>
            <a:ext cx="2786565" cy="116187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300" b="1" dirty="0">
                <a:latin typeface="Book Antiqua" panose="02040602050305030304" pitchFamily="18" charset="0"/>
              </a:rPr>
              <a:t>Metrics &amp; Platform:</a:t>
            </a:r>
            <a:endParaRPr lang="en-US" sz="1300" dirty="0">
              <a:latin typeface="Book Antiqua" panose="02040602050305030304" pitchFamily="18" charset="0"/>
            </a:endParaRPr>
          </a:p>
          <a:p>
            <a:r>
              <a:rPr lang="en-US" sz="1300" b="1" dirty="0">
                <a:latin typeface="Book Antiqua" panose="02040602050305030304" pitchFamily="18" charset="0"/>
              </a:rPr>
              <a:t>Key Metrics:</a:t>
            </a:r>
            <a:r>
              <a:rPr lang="en-US" sz="1300" dirty="0">
                <a:latin typeface="Book Antiqua" panose="02040602050305030304" pitchFamily="18" charset="0"/>
              </a:rPr>
              <a:t> Acc , FAR ,Detection Rate (Recall) and </a:t>
            </a:r>
            <a:r>
              <a:rPr lang="en-US" sz="1300" b="1" dirty="0">
                <a:latin typeface="Book Antiqua" panose="02040602050305030304" pitchFamily="18" charset="0"/>
              </a:rPr>
              <a:t>F₁ Score</a:t>
            </a:r>
            <a:endParaRPr lang="en-US" sz="1300" dirty="0">
              <a:latin typeface="Book Antiqua" panose="02040602050305030304" pitchFamily="18" charset="0"/>
            </a:endParaRP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9C77E0ED-EBE9-43DB-EE68-8336BB1162FF}"/>
              </a:ext>
            </a:extLst>
          </p:cNvPr>
          <p:cNvCxnSpPr>
            <a:stCxn id="51" idx="3"/>
            <a:endCxn id="52" idx="1"/>
          </p:cNvCxnSpPr>
          <p:nvPr/>
        </p:nvCxnSpPr>
        <p:spPr>
          <a:xfrm flipV="1">
            <a:off x="2706543" y="2368828"/>
            <a:ext cx="993491" cy="1336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60281E48-3058-F18F-44B6-F389F0B86195}"/>
              </a:ext>
            </a:extLst>
          </p:cNvPr>
          <p:cNvCxnSpPr>
            <a:stCxn id="52" idx="2"/>
            <a:endCxn id="53" idx="0"/>
          </p:cNvCxnSpPr>
          <p:nvPr/>
        </p:nvCxnSpPr>
        <p:spPr>
          <a:xfrm>
            <a:off x="5223335" y="3165837"/>
            <a:ext cx="4184" cy="496398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95B14018-D1DC-BC1A-29A2-1C087D877366}"/>
              </a:ext>
            </a:extLst>
          </p:cNvPr>
          <p:cNvCxnSpPr>
            <a:stCxn id="53" idx="2"/>
            <a:endCxn id="54" idx="0"/>
          </p:cNvCxnSpPr>
          <p:nvPr/>
        </p:nvCxnSpPr>
        <p:spPr>
          <a:xfrm>
            <a:off x="5227519" y="4824110"/>
            <a:ext cx="2102" cy="581664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91EEF2A3-5D7E-82D6-7FB6-73029D185DE9}"/>
              </a:ext>
            </a:extLst>
          </p:cNvPr>
          <p:cNvCxnSpPr>
            <a:cxnSpLocks/>
          </p:cNvCxnSpPr>
          <p:nvPr/>
        </p:nvCxnSpPr>
        <p:spPr>
          <a:xfrm rot="10800000" flipV="1">
            <a:off x="2986773" y="4243172"/>
            <a:ext cx="820074" cy="903551"/>
          </a:xfrm>
          <a:prstGeom prst="bentConnector3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D3926E97-CE7E-E289-3DBB-CF1DC2D56276}"/>
              </a:ext>
            </a:extLst>
          </p:cNvPr>
          <p:cNvCxnSpPr>
            <a:stCxn id="54" idx="1"/>
          </p:cNvCxnSpPr>
          <p:nvPr/>
        </p:nvCxnSpPr>
        <p:spPr>
          <a:xfrm rot="10800000">
            <a:off x="3396810" y="5146724"/>
            <a:ext cx="389195" cy="839989"/>
          </a:xfrm>
          <a:prstGeom prst="bentConnector2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95861966-5BF0-C343-5C2A-12263AAC8A02}"/>
              </a:ext>
            </a:extLst>
          </p:cNvPr>
          <p:cNvSpPr txBox="1"/>
          <p:nvPr/>
        </p:nvSpPr>
        <p:spPr>
          <a:xfrm>
            <a:off x="463198" y="845951"/>
            <a:ext cx="231536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Book Antiqua" panose="02040602050305030304" pitchFamily="18" charset="0"/>
              </a:rPr>
              <a:t>System Design:</a:t>
            </a:r>
            <a:endParaRPr lang="en-IN" sz="2200" b="1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44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57B49-7958-0BE3-B6FF-B55F51CC0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67CFC9-623F-33E6-06BA-2AE3FEC5A3CE}"/>
              </a:ext>
            </a:extLst>
          </p:cNvPr>
          <p:cNvSpPr txBox="1"/>
          <p:nvPr/>
        </p:nvSpPr>
        <p:spPr>
          <a:xfrm>
            <a:off x="882944" y="261176"/>
            <a:ext cx="104261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DEVELOPMENT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C11727-1989-40EA-CFCA-AB9552195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8813"/>
            <a:ext cx="3927698" cy="203444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86E5AE0-EBB4-D48A-1D36-F5F33AAB67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7698" y="1280425"/>
            <a:ext cx="3544899" cy="204283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C6868F7-A265-F193-53B7-4DB25F4207CE}"/>
              </a:ext>
            </a:extLst>
          </p:cNvPr>
          <p:cNvSpPr txBox="1"/>
          <p:nvPr/>
        </p:nvSpPr>
        <p:spPr>
          <a:xfrm>
            <a:off x="4438923" y="882716"/>
            <a:ext cx="2114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Book Antiqua" panose="02040602050305030304" pitchFamily="18" charset="0"/>
              </a:rPr>
              <a:t>CIC-MAL</a:t>
            </a:r>
            <a:endParaRPr lang="en-IN" b="1" dirty="0">
              <a:latin typeface="Book Antiqua" panose="02040602050305030304" pitchFamily="18" charset="0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842267F-CB26-47E7-9177-4EDC6D9F38D0}"/>
              </a:ext>
            </a:extLst>
          </p:cNvPr>
          <p:cNvGraphicFramePr>
            <a:graphicFrameLocks noGrp="1"/>
          </p:cNvGraphicFramePr>
          <p:nvPr/>
        </p:nvGraphicFramePr>
        <p:xfrm>
          <a:off x="7547547" y="1633928"/>
          <a:ext cx="4557009" cy="4153314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123546">
                  <a:extLst>
                    <a:ext uri="{9D8B030D-6E8A-4147-A177-3AD203B41FA5}">
                      <a16:colId xmlns:a16="http://schemas.microsoft.com/office/drawing/2014/main" val="143089675"/>
                    </a:ext>
                  </a:extLst>
                </a:gridCol>
                <a:gridCol w="2433463">
                  <a:extLst>
                    <a:ext uri="{9D8B030D-6E8A-4147-A177-3AD203B41FA5}">
                      <a16:colId xmlns:a16="http://schemas.microsoft.com/office/drawing/2014/main" val="3151005149"/>
                    </a:ext>
                  </a:extLst>
                </a:gridCol>
              </a:tblGrid>
              <a:tr h="46156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 dirty="0">
                          <a:solidFill>
                            <a:srgbClr val="1B1C1D"/>
                          </a:solidFill>
                          <a:effectLst/>
                          <a:latin typeface="Book Antiqua" panose="02040602050305030304" pitchFamily="18" charset="0"/>
                        </a:rPr>
                        <a:t>Features</a:t>
                      </a:r>
                    </a:p>
                  </a:txBody>
                  <a:tcPr marL="84335" marR="84335" marT="56223" marB="56223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 dirty="0">
                          <a:solidFill>
                            <a:srgbClr val="1B1C1D"/>
                          </a:solidFill>
                          <a:effectLst/>
                          <a:latin typeface="Book Antiqua" panose="02040602050305030304" pitchFamily="18" charset="0"/>
                        </a:rPr>
                        <a:t>Element</a:t>
                      </a:r>
                    </a:p>
                  </a:txBody>
                  <a:tcPr marL="84335" marR="84335" marT="56223" marB="56223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5537625"/>
                  </a:ext>
                </a:extLst>
              </a:tr>
              <a:tr h="63095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200" b="0" dirty="0">
                          <a:solidFill>
                            <a:srgbClr val="1B1C1D"/>
                          </a:solidFill>
                          <a:effectLst/>
                          <a:latin typeface="Book Antiqua" panose="02040602050305030304" pitchFamily="18" charset="0"/>
                        </a:rPr>
                        <a:t>Optimization Engine</a:t>
                      </a:r>
                    </a:p>
                  </a:txBody>
                  <a:tcPr marL="84335" marR="84335" marT="56223" marB="56223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0" dirty="0">
                          <a:solidFill>
                            <a:srgbClr val="1B1C1D"/>
                          </a:solidFill>
                          <a:effectLst/>
                          <a:latin typeface="Book Antiqua" panose="02040602050305030304" pitchFamily="18" charset="0"/>
                        </a:rPr>
                        <a:t>Improved Grey Wolf Optimizer IGWO</a:t>
                      </a:r>
                    </a:p>
                  </a:txBody>
                  <a:tcPr marL="84335" marR="84335" marT="56223" marB="56223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3551432"/>
                  </a:ext>
                </a:extLst>
              </a:tr>
              <a:tr h="45428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200" b="0" dirty="0">
                          <a:solidFill>
                            <a:srgbClr val="1B1C1D"/>
                          </a:solidFill>
                          <a:effectLst/>
                          <a:latin typeface="Book Antiqua" panose="02040602050305030304" pitchFamily="18" charset="0"/>
                        </a:rPr>
                        <a:t>Quantum Encoder</a:t>
                      </a:r>
                    </a:p>
                  </a:txBody>
                  <a:tcPr marL="84335" marR="84335" marT="56223" marB="56223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200" b="0" dirty="0" err="1">
                          <a:solidFill>
                            <a:srgbClr val="1B1C1D"/>
                          </a:solidFill>
                          <a:effectLst/>
                          <a:latin typeface="Book Antiqua" panose="02040602050305030304" pitchFamily="18" charset="0"/>
                        </a:rPr>
                        <a:t>ZZFeatureMap</a:t>
                      </a:r>
                      <a:endParaRPr lang="en-IN" sz="1200" b="0" dirty="0">
                        <a:solidFill>
                          <a:srgbClr val="1B1C1D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84335" marR="84335" marT="56223" marB="56223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1741366"/>
                  </a:ext>
                </a:extLst>
              </a:tr>
              <a:tr h="50684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200" b="0" dirty="0">
                          <a:solidFill>
                            <a:srgbClr val="1B1C1D"/>
                          </a:solidFill>
                          <a:effectLst/>
                          <a:latin typeface="Book Antiqua" panose="02040602050305030304" pitchFamily="18" charset="0"/>
                        </a:rPr>
                        <a:t>Kernel Classifier</a:t>
                      </a:r>
                    </a:p>
                  </a:txBody>
                  <a:tcPr marL="84335" marR="84335" marT="56223" marB="56223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200" b="0" dirty="0">
                          <a:solidFill>
                            <a:srgbClr val="1B1C1D"/>
                          </a:solidFill>
                          <a:effectLst/>
                          <a:latin typeface="Book Antiqua" panose="02040602050305030304" pitchFamily="18" charset="0"/>
                        </a:rPr>
                        <a:t>QSVC (Quantum Support </a:t>
                      </a:r>
                      <a:r>
                        <a:rPr lang="fr-FR" sz="1200" b="0" dirty="0" err="1">
                          <a:solidFill>
                            <a:srgbClr val="1B1C1D"/>
                          </a:solidFill>
                          <a:effectLst/>
                          <a:latin typeface="Book Antiqua" panose="02040602050305030304" pitchFamily="18" charset="0"/>
                        </a:rPr>
                        <a:t>Vector</a:t>
                      </a:r>
                      <a:r>
                        <a:rPr lang="fr-FR" sz="1200" b="0" dirty="0">
                          <a:solidFill>
                            <a:srgbClr val="1B1C1D"/>
                          </a:solidFill>
                          <a:effectLst/>
                          <a:latin typeface="Book Antiqua" panose="02040602050305030304" pitchFamily="18" charset="0"/>
                        </a:rPr>
                        <a:t> Classifier)</a:t>
                      </a:r>
                    </a:p>
                  </a:txBody>
                  <a:tcPr marL="84335" marR="84335" marT="56223" marB="56223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7229227"/>
                  </a:ext>
                </a:extLst>
              </a:tr>
              <a:tr h="80762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200" b="0" dirty="0">
                          <a:solidFill>
                            <a:srgbClr val="1B1C1D"/>
                          </a:solidFill>
                          <a:effectLst/>
                          <a:latin typeface="Book Antiqua" panose="02040602050305030304" pitchFamily="18" charset="0"/>
                        </a:rPr>
                        <a:t>Variational Classifier</a:t>
                      </a:r>
                    </a:p>
                  </a:txBody>
                  <a:tcPr marL="84335" marR="84335" marT="56223" marB="56223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200" b="0" dirty="0">
                          <a:solidFill>
                            <a:srgbClr val="1B1C1D"/>
                          </a:solidFill>
                          <a:effectLst/>
                          <a:latin typeface="Book Antiqua" panose="02040602050305030304" pitchFamily="18" charset="0"/>
                        </a:rPr>
                        <a:t>VQC (Variational Quantum Classifier)</a:t>
                      </a:r>
                    </a:p>
                  </a:txBody>
                  <a:tcPr marL="84335" marR="84335" marT="56223" marB="56223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80842"/>
                  </a:ext>
                </a:extLst>
              </a:tr>
              <a:tr h="63095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200" b="0">
                          <a:solidFill>
                            <a:srgbClr val="1B1C1D"/>
                          </a:solidFill>
                          <a:effectLst/>
                          <a:latin typeface="Book Antiqua" panose="02040602050305030304" pitchFamily="18" charset="0"/>
                        </a:rPr>
                        <a:t>Classical Optimizer</a:t>
                      </a:r>
                    </a:p>
                  </a:txBody>
                  <a:tcPr marL="84335" marR="84335" marT="56223" marB="56223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200" b="0" dirty="0">
                          <a:solidFill>
                            <a:srgbClr val="1B1C1D"/>
                          </a:solidFill>
                          <a:effectLst/>
                          <a:latin typeface="Book Antiqua" panose="02040602050305030304" pitchFamily="18" charset="0"/>
                        </a:rPr>
                        <a:t>SPSA</a:t>
                      </a:r>
                    </a:p>
                    <a:p>
                      <a:pPr rtl="0">
                        <a:buNone/>
                      </a:pPr>
                      <a:r>
                        <a:rPr lang="en-IN" sz="1200" b="0" dirty="0">
                          <a:solidFill>
                            <a:srgbClr val="1B1C1D"/>
                          </a:solidFill>
                          <a:effectLst/>
                          <a:latin typeface="Book Antiqua" panose="02040602050305030304" pitchFamily="18" charset="0"/>
                        </a:rPr>
                        <a:t>(Simultaneous Perturbation Stochastic Approximation)</a:t>
                      </a:r>
                    </a:p>
                  </a:txBody>
                  <a:tcPr marL="84335" marR="84335" marT="56223" marB="56223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3964998"/>
                  </a:ext>
                </a:extLst>
              </a:tr>
              <a:tr h="63095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200" b="0" dirty="0">
                          <a:solidFill>
                            <a:srgbClr val="1B1C1D"/>
                          </a:solidFill>
                          <a:effectLst/>
                          <a:latin typeface="Book Antiqua" panose="02040602050305030304" pitchFamily="18" charset="0"/>
                        </a:rPr>
                        <a:t>Decision Aggregator</a:t>
                      </a:r>
                    </a:p>
                  </a:txBody>
                  <a:tcPr marL="84335" marR="84335" marT="56223" marB="56223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200" b="0" dirty="0">
                          <a:solidFill>
                            <a:srgbClr val="1B1C1D"/>
                          </a:solidFill>
                          <a:effectLst/>
                          <a:latin typeface="Book Antiqua" panose="02040602050305030304" pitchFamily="18" charset="0"/>
                        </a:rPr>
                        <a:t>Fusion Layer</a:t>
                      </a:r>
                    </a:p>
                  </a:txBody>
                  <a:tcPr marL="84335" marR="84335" marT="56223" marB="56223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60246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E7422D25-3AF8-3B09-3767-06C7D87F74B8}"/>
              </a:ext>
            </a:extLst>
          </p:cNvPr>
          <p:cNvSpPr txBox="1"/>
          <p:nvPr/>
        </p:nvSpPr>
        <p:spPr>
          <a:xfrm>
            <a:off x="7547547" y="1252048"/>
            <a:ext cx="1568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Book Antiqua" panose="02040602050305030304" pitchFamily="18" charset="0"/>
              </a:rPr>
              <a:t>Features</a:t>
            </a:r>
            <a:endParaRPr lang="en-IN" b="1" dirty="0">
              <a:latin typeface="Book Antiqua" panose="0204060205030503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C229AB-9300-46A3-D1FA-7A7A768C94CF}"/>
              </a:ext>
            </a:extLst>
          </p:cNvPr>
          <p:cNvSpPr txBox="1"/>
          <p:nvPr/>
        </p:nvSpPr>
        <p:spPr>
          <a:xfrm>
            <a:off x="552274" y="911092"/>
            <a:ext cx="1568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Book Antiqua" panose="02040602050305030304" pitchFamily="18" charset="0"/>
              </a:rPr>
              <a:t>NSL-KDD</a:t>
            </a:r>
            <a:endParaRPr lang="en-IN" b="1" dirty="0">
              <a:latin typeface="Book Antiqua" panose="0204060205030503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1BC146-7B2F-FA26-55D1-7D0192121B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36" y="3981133"/>
            <a:ext cx="7261153" cy="164890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F2F7E20-A153-03AF-E291-82EF7F657BB9}"/>
              </a:ext>
            </a:extLst>
          </p:cNvPr>
          <p:cNvSpPr txBox="1"/>
          <p:nvPr/>
        </p:nvSpPr>
        <p:spPr>
          <a:xfrm>
            <a:off x="419450" y="3515155"/>
            <a:ext cx="3927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Book Antiqua" panose="02040602050305030304" pitchFamily="18" charset="0"/>
              </a:rPr>
              <a:t>CIC-</a:t>
            </a:r>
            <a:r>
              <a:rPr lang="en-US" b="1" dirty="0" err="1">
                <a:latin typeface="Book Antiqua" panose="02040602050305030304" pitchFamily="18" charset="0"/>
              </a:rPr>
              <a:t>Ddos</a:t>
            </a:r>
            <a:r>
              <a:rPr lang="en-US" b="1" dirty="0">
                <a:latin typeface="Book Antiqua" panose="02040602050305030304" pitchFamily="18" charset="0"/>
              </a:rPr>
              <a:t> 2019(syn)</a:t>
            </a:r>
            <a:endParaRPr lang="en-IN" b="1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1487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81280-C949-031A-6FDE-067206D26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52FD9E-27D6-1D00-9DC3-ECE1FC7A5D0D}"/>
              </a:ext>
            </a:extLst>
          </p:cNvPr>
          <p:cNvSpPr txBox="1"/>
          <p:nvPr/>
        </p:nvSpPr>
        <p:spPr>
          <a:xfrm>
            <a:off x="882944" y="261176"/>
            <a:ext cx="104261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EXPECTED OUTCOME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E7C221D-7C7E-9BCF-4B5D-6EC5E5DF48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0407979"/>
              </p:ext>
            </p:extLst>
          </p:nvPr>
        </p:nvGraphicFramePr>
        <p:xfrm>
          <a:off x="433083" y="845951"/>
          <a:ext cx="11277948" cy="5248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70513">
                  <a:extLst>
                    <a:ext uri="{9D8B030D-6E8A-4147-A177-3AD203B41FA5}">
                      <a16:colId xmlns:a16="http://schemas.microsoft.com/office/drawing/2014/main" val="1497470522"/>
                    </a:ext>
                  </a:extLst>
                </a:gridCol>
                <a:gridCol w="1570513">
                  <a:extLst>
                    <a:ext uri="{9D8B030D-6E8A-4147-A177-3AD203B41FA5}">
                      <a16:colId xmlns:a16="http://schemas.microsoft.com/office/drawing/2014/main" val="2937843580"/>
                    </a:ext>
                  </a:extLst>
                </a:gridCol>
                <a:gridCol w="1848474">
                  <a:extLst>
                    <a:ext uri="{9D8B030D-6E8A-4147-A177-3AD203B41FA5}">
                      <a16:colId xmlns:a16="http://schemas.microsoft.com/office/drawing/2014/main" val="150164424"/>
                    </a:ext>
                  </a:extLst>
                </a:gridCol>
                <a:gridCol w="1216114">
                  <a:extLst>
                    <a:ext uri="{9D8B030D-6E8A-4147-A177-3AD203B41FA5}">
                      <a16:colId xmlns:a16="http://schemas.microsoft.com/office/drawing/2014/main" val="3219992175"/>
                    </a:ext>
                  </a:extLst>
                </a:gridCol>
                <a:gridCol w="1229734">
                  <a:extLst>
                    <a:ext uri="{9D8B030D-6E8A-4147-A177-3AD203B41FA5}">
                      <a16:colId xmlns:a16="http://schemas.microsoft.com/office/drawing/2014/main" val="1522764532"/>
                    </a:ext>
                  </a:extLst>
                </a:gridCol>
                <a:gridCol w="1061951">
                  <a:extLst>
                    <a:ext uri="{9D8B030D-6E8A-4147-A177-3AD203B41FA5}">
                      <a16:colId xmlns:a16="http://schemas.microsoft.com/office/drawing/2014/main" val="1652503180"/>
                    </a:ext>
                  </a:extLst>
                </a:gridCol>
                <a:gridCol w="1231924">
                  <a:extLst>
                    <a:ext uri="{9D8B030D-6E8A-4147-A177-3AD203B41FA5}">
                      <a16:colId xmlns:a16="http://schemas.microsoft.com/office/drawing/2014/main" val="3832594000"/>
                    </a:ext>
                  </a:extLst>
                </a:gridCol>
                <a:gridCol w="1548725">
                  <a:extLst>
                    <a:ext uri="{9D8B030D-6E8A-4147-A177-3AD203B41FA5}">
                      <a16:colId xmlns:a16="http://schemas.microsoft.com/office/drawing/2014/main" val="751937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Book Antiqua" panose="02040602050305030304" pitchFamily="18" charset="0"/>
                        </a:rPr>
                        <a:t>Dataset</a:t>
                      </a:r>
                      <a:endParaRPr lang="en-IN" sz="1400" b="1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Book Antiqua" panose="02040602050305030304" pitchFamily="18" charset="0"/>
                        </a:rPr>
                        <a:t>Model Architecture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Book Antiqua" panose="02040602050305030304" pitchFamily="18" charset="0"/>
                        </a:rPr>
                        <a:t>Quantum </a:t>
                      </a:r>
                    </a:p>
                    <a:p>
                      <a:r>
                        <a:rPr lang="en-IN" sz="1400" b="1" dirty="0">
                          <a:latin typeface="Book Antiqua" panose="02040602050305030304" pitchFamily="18" charset="0"/>
                        </a:rPr>
                        <a:t>Feature Map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Book Antiqua" panose="02040602050305030304" pitchFamily="18" charset="0"/>
                        </a:rPr>
                        <a:t>Accuracy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u="none" strike="noStrike" cap="none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  <a:sym typeface="Arial"/>
                        </a:rPr>
                        <a:t>F_1</a:t>
                      </a:r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rPr>
                        <a:t> </a:t>
                      </a:r>
                      <a:r>
                        <a:rPr lang="en-IN" sz="1400" b="1" dirty="0">
                          <a:latin typeface="Book Antiqua" panose="02040602050305030304" pitchFamily="18" charset="0"/>
                        </a:rPr>
                        <a:t>Score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Book Antiqua" panose="02040602050305030304" pitchFamily="18" charset="0"/>
                        </a:rPr>
                        <a:t>Recall (DR)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Book Antiqua" panose="02040602050305030304" pitchFamily="18" charset="0"/>
                        </a:rPr>
                        <a:t>Precision</a:t>
                      </a:r>
                    </a:p>
                    <a:p>
                      <a:pPr>
                        <a:buNone/>
                      </a:pPr>
                      <a:endParaRPr lang="en-IN" sz="1400" b="1" dirty="0">
                        <a:latin typeface="Book Antiqua" panose="02040602050305030304" pitchFamily="18" charset="0"/>
                      </a:endParaRPr>
                    </a:p>
                    <a:p>
                      <a:pPr>
                        <a:buNone/>
                      </a:pPr>
                      <a:endParaRPr lang="en-IN" sz="1400" b="1" dirty="0">
                        <a:latin typeface="Book Antiqua" panose="02040602050305030304" pitchFamily="18" charset="0"/>
                      </a:endParaRPr>
                    </a:p>
                    <a:p>
                      <a:pPr>
                        <a:buNone/>
                      </a:pPr>
                      <a:endParaRPr lang="en-IN" sz="1400" b="1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Book Antiqua" panose="02040602050305030304" pitchFamily="18" charset="0"/>
                        </a:rPr>
                        <a:t>False Alarm Rate (FAR)</a:t>
                      </a:r>
                    </a:p>
                    <a:p>
                      <a:pPr>
                        <a:buNone/>
                      </a:pPr>
                      <a:endParaRPr lang="en-IN" sz="1400" b="1" dirty="0">
                        <a:latin typeface="Book Antiqua" panose="02040602050305030304" pitchFamily="18" charset="0"/>
                      </a:endParaRPr>
                    </a:p>
                    <a:p>
                      <a:pPr>
                        <a:buNone/>
                      </a:pPr>
                      <a:endParaRPr lang="en-IN" sz="1400" b="1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392265"/>
                  </a:ext>
                </a:extLst>
              </a:tr>
              <a:tr h="439091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Book Antiqua" panose="02040602050305030304" pitchFamily="18" charset="0"/>
                        </a:rPr>
                        <a:t>NSL-KDD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 dirty="0">
                          <a:latin typeface="Book Antiqua" panose="02040602050305030304" pitchFamily="18" charset="0"/>
                        </a:rPr>
                        <a:t>Unified Hybrid</a:t>
                      </a:r>
                      <a:r>
                        <a:rPr lang="en-IN" sz="1200" dirty="0">
                          <a:latin typeface="Book Antiqua" panose="02040602050305030304" pitchFamily="18" charset="0"/>
                        </a:rPr>
                        <a:t> (Fusion)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Book Antiqua" panose="02040602050305030304" pitchFamily="18" charset="0"/>
                          <a:sym typeface="Arial"/>
                        </a:rPr>
                        <a:t>ZZFeature</a:t>
                      </a:r>
                      <a:endParaRPr lang="en-IN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effectLst/>
                          <a:latin typeface="Book Antiqua" panose="02040602050305030304" pitchFamily="18" charset="0"/>
                          <a:sym typeface="Arial"/>
                        </a:rPr>
                        <a:t>0.8600</a:t>
                      </a:r>
                      <a:endParaRPr lang="en-IN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Book Antiqua" panose="02040602050305030304" pitchFamily="18" charset="0"/>
                        </a:rPr>
                        <a:t>0.8444</a:t>
                      </a:r>
                      <a:endParaRPr lang="en-IN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Book Antiqua" panose="02040602050305030304" pitchFamily="18" charset="0"/>
                        </a:rPr>
                        <a:t>0,7917</a:t>
                      </a:r>
                      <a:endParaRPr lang="en-IN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Book Antiqua" panose="02040602050305030304" pitchFamily="18" charset="0"/>
                        </a:rPr>
                        <a:t>0.9048</a:t>
                      </a:r>
                      <a:endParaRPr lang="en-IN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Book Antiqua" panose="02040602050305030304" pitchFamily="18" charset="0"/>
                        </a:rPr>
                        <a:t>0.0769</a:t>
                      </a:r>
                      <a:endParaRPr lang="en-IN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5681716"/>
                  </a:ext>
                </a:extLst>
              </a:tr>
              <a:tr h="323220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Book Antiqua" panose="02040602050305030304" pitchFamily="18" charset="0"/>
                        </a:rPr>
                        <a:t>NSL-KDD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Book Antiqua" panose="02040602050305030304" pitchFamily="18" charset="0"/>
                        </a:rPr>
                        <a:t>Independent QSVC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effectLst/>
                          <a:latin typeface="Book Antiqua" panose="02040602050305030304" pitchFamily="18" charset="0"/>
                          <a:sym typeface="Arial"/>
                        </a:rPr>
                        <a:t>Fidelity Kernel</a:t>
                      </a:r>
                      <a:endParaRPr lang="en-IN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Book Antiqua" panose="02040602050305030304" pitchFamily="18" charset="0"/>
                        </a:rPr>
                        <a:t>0.8200</a:t>
                      </a:r>
                      <a:endParaRPr lang="en-IN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Book Antiqua" panose="02040602050305030304" pitchFamily="18" charset="0"/>
                        </a:rPr>
                        <a:t>0.7907</a:t>
                      </a:r>
                      <a:endParaRPr lang="en-IN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Book Antiqua" panose="02040602050305030304" pitchFamily="18" charset="0"/>
                        </a:rPr>
                        <a:t>0.7083</a:t>
                      </a:r>
                      <a:endParaRPr lang="en-IN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Book Antiqua" panose="02040602050305030304" pitchFamily="18" charset="0"/>
                        </a:rPr>
                        <a:t>0.8947</a:t>
                      </a:r>
                      <a:endParaRPr lang="en-IN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Book Antiqua" panose="02040602050305030304" pitchFamily="18" charset="0"/>
                        </a:rPr>
                        <a:t>0.0769</a:t>
                      </a:r>
                      <a:endParaRPr lang="en-IN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704655"/>
                  </a:ext>
                </a:extLst>
              </a:tr>
              <a:tr h="439091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Book Antiqua" panose="02040602050305030304" pitchFamily="18" charset="0"/>
                        </a:rPr>
                        <a:t>NSL-KDD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Book Antiqua" panose="02040602050305030304" pitchFamily="18" charset="0"/>
                        </a:rPr>
                        <a:t>Independent VQC (QNN)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Book Antiqua" panose="02040602050305030304" pitchFamily="18" charset="0"/>
                          <a:sym typeface="Arial"/>
                        </a:rPr>
                        <a:t>RealAmplitudes</a:t>
                      </a:r>
                      <a:r>
                        <a:rPr lang="en-IN" sz="1200" dirty="0">
                          <a:latin typeface="Book Antiqua" panose="02040602050305030304" pitchFamily="18" charset="0"/>
                        </a:rPr>
                        <a:t> Ansatz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Book Antiqua" panose="02040602050305030304" pitchFamily="18" charset="0"/>
                        </a:rPr>
                        <a:t>0.700</a:t>
                      </a:r>
                      <a:endParaRPr lang="en-IN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Book Antiqua" panose="02040602050305030304" pitchFamily="18" charset="0"/>
                        </a:rPr>
                        <a:t>0.5946</a:t>
                      </a:r>
                      <a:endParaRPr lang="en-IN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Book Antiqua" panose="02040602050305030304" pitchFamily="18" charset="0"/>
                        </a:rPr>
                        <a:t>0.4583</a:t>
                      </a:r>
                      <a:endParaRPr lang="en-IN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Book Antiqua" panose="02040602050305030304" pitchFamily="18" charset="0"/>
                        </a:rPr>
                        <a:t>0.8462</a:t>
                      </a:r>
                      <a:endParaRPr lang="en-IN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Book Antiqua" panose="02040602050305030304" pitchFamily="18" charset="0"/>
                        </a:rPr>
                        <a:t>0.0769</a:t>
                      </a:r>
                      <a:endParaRPr lang="en-IN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2988108"/>
                  </a:ext>
                </a:extLst>
              </a:tr>
              <a:tr h="4525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Book Antiqua" panose="02040602050305030304" pitchFamily="18" charset="0"/>
                        </a:rPr>
                        <a:t>CICANDMAL</a:t>
                      </a:r>
                    </a:p>
                    <a:p>
                      <a:endParaRPr lang="en-IN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Book Antiqua" panose="02040602050305030304" pitchFamily="18" charset="0"/>
                        </a:rPr>
                        <a:t>Independent QSVC</a:t>
                      </a:r>
                    </a:p>
                    <a:p>
                      <a:endParaRPr lang="en-IN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Book Antiqua" panose="02040602050305030304" pitchFamily="18" charset="0"/>
                          <a:sym typeface="Arial"/>
                        </a:rPr>
                        <a:t>ZFeature</a:t>
                      </a:r>
                      <a:endParaRPr lang="en-IN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0" u="none" strike="noStrike" cap="none" dirty="0">
                          <a:solidFill>
                            <a:schemeClr val="dk1"/>
                          </a:solidFill>
                          <a:effectLst/>
                          <a:latin typeface="Book Antiqua" panose="02040602050305030304" pitchFamily="18" charset="0"/>
                          <a:sym typeface="Arial"/>
                        </a:rPr>
                        <a:t>0.68</a:t>
                      </a:r>
                      <a:endParaRPr lang="en-IN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Book Antiqua" panose="02040602050305030304" pitchFamily="18" charset="0"/>
                        </a:rPr>
                        <a:t>0.80</a:t>
                      </a:r>
                      <a:endParaRPr lang="en-IN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Book Antiqua" panose="02040602050305030304" pitchFamily="18" charset="0"/>
                        </a:rPr>
                        <a:t>0.68</a:t>
                      </a:r>
                      <a:endParaRPr lang="en-IN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Book Antiqua" panose="02040602050305030304" pitchFamily="18" charset="0"/>
                        </a:rPr>
                        <a:t>0.70</a:t>
                      </a:r>
                      <a:endParaRPr lang="en-IN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Book Antiqua" panose="02040602050305030304" pitchFamily="18" charset="0"/>
                        </a:rPr>
                        <a:t>0.05</a:t>
                      </a:r>
                      <a:endParaRPr lang="en-IN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5969177"/>
                  </a:ext>
                </a:extLst>
              </a:tr>
              <a:tr h="6147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Book Antiqua" panose="02040602050305030304" pitchFamily="18" charset="0"/>
                        </a:rPr>
                        <a:t>CICANDMAL</a:t>
                      </a:r>
                    </a:p>
                    <a:p>
                      <a:endParaRPr lang="en-IN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Book Antiqua" panose="02040602050305030304" pitchFamily="18" charset="0"/>
                        </a:rPr>
                        <a:t>Independent VQC (QNN)</a:t>
                      </a:r>
                    </a:p>
                    <a:p>
                      <a:endParaRPr lang="en-IN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Book Antiqua" panose="02040602050305030304" pitchFamily="18" charset="0"/>
                          <a:sym typeface="Arial"/>
                        </a:rPr>
                        <a:t>ZFeature</a:t>
                      </a:r>
                      <a:endParaRPr lang="en-IN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Book Antiqua" panose="02040602050305030304" pitchFamily="18" charset="0"/>
                        </a:rPr>
                        <a:t>0.72</a:t>
                      </a:r>
                      <a:endParaRPr lang="en-IN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Book Antiqua" panose="02040602050305030304" pitchFamily="18" charset="0"/>
                        </a:rPr>
                        <a:t>0.83</a:t>
                      </a:r>
                      <a:endParaRPr lang="en-IN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Book Antiqua" panose="02040602050305030304" pitchFamily="18" charset="0"/>
                        </a:rPr>
                        <a:t>0.75</a:t>
                      </a:r>
                      <a:endParaRPr lang="en-IN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Book Antiqua" panose="02040602050305030304" pitchFamily="18" charset="0"/>
                        </a:rPr>
                        <a:t>0.75</a:t>
                      </a:r>
                      <a:endParaRPr lang="en-IN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Book Antiqua" panose="02040602050305030304" pitchFamily="18" charset="0"/>
                        </a:rPr>
                        <a:t>0.02</a:t>
                      </a:r>
                      <a:endParaRPr lang="en-IN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500495"/>
                  </a:ext>
                </a:extLst>
              </a:tr>
              <a:tr h="452508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Book Antiqua" panose="02040602050305030304" pitchFamily="18" charset="0"/>
                        </a:rPr>
                        <a:t>CICANDMAL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Book Antiqua" panose="02040602050305030304" pitchFamily="18" charset="0"/>
                        </a:rPr>
                        <a:t>Independent QSVC</a:t>
                      </a:r>
                    </a:p>
                    <a:p>
                      <a:endParaRPr lang="en-IN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Book Antiqua" panose="02040602050305030304" pitchFamily="18" charset="0"/>
                          <a:sym typeface="Arial"/>
                        </a:rPr>
                        <a:t>ZZFeature</a:t>
                      </a:r>
                      <a:endParaRPr lang="en-IN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Book Antiqua" panose="02040602050305030304" pitchFamily="18" charset="0"/>
                        </a:rPr>
                        <a:t>0.84</a:t>
                      </a:r>
                      <a:endParaRPr lang="en-IN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Book Antiqua" panose="02040602050305030304" pitchFamily="18" charset="0"/>
                        </a:rPr>
                        <a:t>0.91</a:t>
                      </a:r>
                      <a:endParaRPr lang="en-IN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Book Antiqua" panose="02040602050305030304" pitchFamily="18" charset="0"/>
                        </a:rPr>
                        <a:t>0.85</a:t>
                      </a:r>
                      <a:endParaRPr lang="en-IN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Book Antiqua" panose="02040602050305030304" pitchFamily="18" charset="0"/>
                        </a:rPr>
                        <a:t>0.89</a:t>
                      </a:r>
                      <a:endParaRPr lang="en-IN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Book Antiqua" panose="02040602050305030304" pitchFamily="18" charset="0"/>
                        </a:rPr>
                        <a:t>0.05</a:t>
                      </a:r>
                      <a:endParaRPr lang="en-IN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4407815"/>
                  </a:ext>
                </a:extLst>
              </a:tr>
              <a:tr h="614727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Book Antiqua" panose="02040602050305030304" pitchFamily="18" charset="0"/>
                        </a:rPr>
                        <a:t>CICANDMAL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Book Antiqua" panose="02040602050305030304" pitchFamily="18" charset="0"/>
                        </a:rPr>
                        <a:t>Independent VQC (QNN)</a:t>
                      </a:r>
                    </a:p>
                    <a:p>
                      <a:endParaRPr lang="en-IN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Book Antiqua" panose="02040602050305030304" pitchFamily="18" charset="0"/>
                          <a:sym typeface="Arial"/>
                        </a:rPr>
                        <a:t>ZZFeature</a:t>
                      </a:r>
                      <a:endParaRPr lang="en-IN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Book Antiqua" panose="02040602050305030304" pitchFamily="18" charset="0"/>
                        </a:rPr>
                        <a:t>0.46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Book Antiqua" panose="02040602050305030304" pitchFamily="18" charset="0"/>
                        </a:rPr>
                        <a:t>0.61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Book Antiqua" panose="02040602050305030304" pitchFamily="18" charset="0"/>
                        </a:rPr>
                        <a:t>0.45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Book Antiqua" panose="02040602050305030304" pitchFamily="18" charset="0"/>
                        </a:rPr>
                        <a:t>0.56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Book Antiqua" panose="02040602050305030304" pitchFamily="18" charset="0"/>
                        </a:rPr>
                        <a:t>0.05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7056770"/>
                  </a:ext>
                </a:extLst>
              </a:tr>
              <a:tr h="263455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Book Antiqua" panose="02040602050305030304" pitchFamily="18" charset="0"/>
                        </a:rPr>
                        <a:t>CIC-DDoS 2019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Book Antiqua" panose="02040602050305030304" pitchFamily="18" charset="0"/>
                        </a:rPr>
                        <a:t>Unified Hybrid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Book Antiqua" panose="02040602050305030304" pitchFamily="18" charset="0"/>
                        </a:rPr>
                        <a:t>ZZFeature</a:t>
                      </a:r>
                      <a:endParaRPr lang="en-IN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Book Antiqua" panose="02040602050305030304" pitchFamily="18" charset="0"/>
                        </a:rPr>
                        <a:t>0.98</a:t>
                      </a:r>
                      <a:endParaRPr lang="en-IN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Book Antiqua" panose="02040602050305030304" pitchFamily="18" charset="0"/>
                        </a:rPr>
                        <a:t>0.94</a:t>
                      </a:r>
                      <a:endParaRPr lang="en-IN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Book Antiqua" panose="02040602050305030304" pitchFamily="18" charset="0"/>
                        </a:rPr>
                        <a:t>1.0</a:t>
                      </a:r>
                      <a:endParaRPr lang="en-IN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Book Antiqua" panose="02040602050305030304" pitchFamily="18" charset="0"/>
                        </a:rPr>
                        <a:t>0.96</a:t>
                      </a:r>
                      <a:endParaRPr lang="en-IN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Book Antiqua" panose="02040602050305030304" pitchFamily="18" charset="0"/>
                        </a:rPr>
                        <a:t>0.04</a:t>
                      </a:r>
                      <a:endParaRPr lang="en-IN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6117490"/>
                  </a:ext>
                </a:extLst>
              </a:tr>
              <a:tr h="323220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Book Antiqua" panose="02040602050305030304" pitchFamily="18" charset="0"/>
                        </a:rPr>
                        <a:t>CIC-DDoS 2019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Book Antiqua" panose="02040602050305030304" pitchFamily="18" charset="0"/>
                        </a:rPr>
                        <a:t>Independent QSVM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Book Antiqua" panose="02040602050305030304" pitchFamily="18" charset="0"/>
                        </a:rPr>
                        <a:t>PauliFeature</a:t>
                      </a:r>
                      <a:endParaRPr lang="en-IN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Book Antiqua" panose="02040602050305030304" pitchFamily="18" charset="0"/>
                        </a:rPr>
                        <a:t>0.98</a:t>
                      </a:r>
                      <a:endParaRPr lang="en-IN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Book Antiqua" panose="02040602050305030304" pitchFamily="18" charset="0"/>
                        </a:rPr>
                        <a:t>0.98</a:t>
                      </a:r>
                      <a:endParaRPr lang="en-IN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Book Antiqua" panose="02040602050305030304" pitchFamily="18" charset="0"/>
                        </a:rPr>
                        <a:t>1.0</a:t>
                      </a:r>
                      <a:endParaRPr lang="en-IN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Book Antiqua" panose="02040602050305030304" pitchFamily="18" charset="0"/>
                        </a:rPr>
                        <a:t>0.96</a:t>
                      </a:r>
                      <a:endParaRPr lang="en-IN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Book Antiqua" panose="02040602050305030304" pitchFamily="18" charset="0"/>
                        </a:rPr>
                        <a:t>0.04</a:t>
                      </a:r>
                      <a:endParaRPr lang="en-IN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2877948"/>
                  </a:ext>
                </a:extLst>
              </a:tr>
              <a:tr h="263455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Book Antiqua" panose="02040602050305030304" pitchFamily="18" charset="0"/>
                        </a:rPr>
                        <a:t>CIC-DDoS 2019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Book Antiqua" panose="02040602050305030304" pitchFamily="18" charset="0"/>
                        </a:rPr>
                        <a:t>Independent VQC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Book Antiqua" panose="02040602050305030304" pitchFamily="18" charset="0"/>
                        </a:rPr>
                        <a:t>ZFearure</a:t>
                      </a:r>
                      <a:endParaRPr lang="en-IN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Book Antiqua" panose="02040602050305030304" pitchFamily="18" charset="0"/>
                        </a:rPr>
                        <a:t>0.96</a:t>
                      </a:r>
                      <a:endParaRPr lang="en-IN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Book Antiqua" panose="02040602050305030304" pitchFamily="18" charset="0"/>
                        </a:rPr>
                        <a:t>0.96</a:t>
                      </a:r>
                      <a:endParaRPr lang="en-IN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Book Antiqua" panose="02040602050305030304" pitchFamily="18" charset="0"/>
                        </a:rPr>
                        <a:t>1.0</a:t>
                      </a:r>
                      <a:endParaRPr lang="en-IN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Book Antiqua" panose="02040602050305030304" pitchFamily="18" charset="0"/>
                        </a:rPr>
                        <a:t>0.96</a:t>
                      </a:r>
                      <a:endParaRPr lang="en-IN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Book Antiqua" panose="02040602050305030304" pitchFamily="18" charset="0"/>
                        </a:rPr>
                        <a:t>0.08</a:t>
                      </a:r>
                      <a:endParaRPr lang="en-IN" sz="1200" dirty="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755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920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8E8147-357D-7FED-7729-847B9FCECC3E}"/>
              </a:ext>
            </a:extLst>
          </p:cNvPr>
          <p:cNvSpPr txBox="1"/>
          <p:nvPr/>
        </p:nvSpPr>
        <p:spPr>
          <a:xfrm>
            <a:off x="4635910" y="2721114"/>
            <a:ext cx="29201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47897800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1441</TotalTime>
  <Words>679</Words>
  <Application>Microsoft Office PowerPoint</Application>
  <PresentationFormat>Widescreen</PresentationFormat>
  <Paragraphs>194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Book Antiqua</vt:lpstr>
      <vt:lpstr>Calibri</vt:lpstr>
      <vt:lpstr>Times New Roman</vt:lpstr>
      <vt:lpstr>Wingdings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Asha Sheldon</dc:creator>
  <cp:lastModifiedBy>samreen fatima</cp:lastModifiedBy>
  <cp:revision>32</cp:revision>
  <dcterms:created xsi:type="dcterms:W3CDTF">2024-06-11T09:24:19Z</dcterms:created>
  <dcterms:modified xsi:type="dcterms:W3CDTF">2025-11-01T02:03:34Z</dcterms:modified>
</cp:coreProperties>
</file>